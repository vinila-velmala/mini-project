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57" r:id="rId6"/>
    <p:sldId id="262" r:id="rId7"/>
    <p:sldId id="263" r:id="rId8"/>
    <p:sldId id="264" r:id="rId9"/>
    <p:sldId id="265" r:id="rId10"/>
    <p:sldId id="269" r:id="rId11"/>
    <p:sldId id="270" r:id="rId12"/>
    <p:sldId id="271" r:id="rId13"/>
    <p:sldId id="272" r:id="rId14"/>
    <p:sldId id="273" r:id="rId15"/>
    <p:sldId id="275" r:id="rId16"/>
    <p:sldId id="281" r:id="rId17"/>
    <p:sldId id="274" r:id="rId18"/>
    <p:sldId id="276" r:id="rId19"/>
    <p:sldId id="280" r:id="rId20"/>
    <p:sldId id="266" r:id="rId21"/>
    <p:sldId id="277" r:id="rId22"/>
    <p:sldId id="278" r:id="rId23"/>
    <p:sldId id="267" r:id="rId24"/>
    <p:sldId id="282" r:id="rId25"/>
    <p:sldId id="26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5A958D0-9060-475A-8EA6-ABCC078CF7E8}">
          <p14:sldIdLst>
            <p14:sldId id="258"/>
            <p14:sldId id="259"/>
            <p14:sldId id="260"/>
            <p14:sldId id="261"/>
            <p14:sldId id="257"/>
            <p14:sldId id="262"/>
            <p14:sldId id="263"/>
            <p14:sldId id="264"/>
            <p14:sldId id="265"/>
            <p14:sldId id="269"/>
            <p14:sldId id="270"/>
            <p14:sldId id="271"/>
            <p14:sldId id="272"/>
            <p14:sldId id="273"/>
            <p14:sldId id="275"/>
            <p14:sldId id="281"/>
            <p14:sldId id="274"/>
            <p14:sldId id="276"/>
            <p14:sldId id="280"/>
            <p14:sldId id="266"/>
            <p14:sldId id="277"/>
            <p14:sldId id="278"/>
            <p14:sldId id="267"/>
            <p14:sldId id="282"/>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presProps" Target="presProps.xml" /><Relationship Id="rId30"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D6A7D-05DB-E50D-5F93-5D5942D507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922899-1273-3CD2-4A63-907B46E47A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DE0A6BE-8F6B-7F26-491C-05AA81A3D3E7}"/>
              </a:ext>
            </a:extLst>
          </p:cNvPr>
          <p:cNvSpPr>
            <a:spLocks noGrp="1"/>
          </p:cNvSpPr>
          <p:nvPr>
            <p:ph type="dt" sz="half" idx="10"/>
          </p:nvPr>
        </p:nvSpPr>
        <p:spPr/>
        <p:txBody>
          <a:bodyPr/>
          <a:lstStyle/>
          <a:p>
            <a:fld id="{C9C2CEBB-9EF1-472F-93A5-7E57D9DDD0F5}" type="datetimeFigureOut">
              <a:rPr lang="en-IN" smtClean="0"/>
              <a:t>17-06-2025</a:t>
            </a:fld>
            <a:endParaRPr lang="en-IN"/>
          </a:p>
        </p:txBody>
      </p:sp>
      <p:sp>
        <p:nvSpPr>
          <p:cNvPr id="5" name="Footer Placeholder 4">
            <a:extLst>
              <a:ext uri="{FF2B5EF4-FFF2-40B4-BE49-F238E27FC236}">
                <a16:creationId xmlns:a16="http://schemas.microsoft.com/office/drawing/2014/main" id="{28DAA41C-B9C4-93B3-44AA-1EA0DF0F78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033ADF-AD62-39C7-BBB2-7538DB8D6554}"/>
              </a:ext>
            </a:extLst>
          </p:cNvPr>
          <p:cNvSpPr>
            <a:spLocks noGrp="1"/>
          </p:cNvSpPr>
          <p:nvPr>
            <p:ph type="sldNum" sz="quarter" idx="12"/>
          </p:nvPr>
        </p:nvSpPr>
        <p:spPr/>
        <p:txBody>
          <a:bodyPr/>
          <a:lstStyle/>
          <a:p>
            <a:fld id="{A2F5F565-C15D-4563-B189-5C80D4339949}" type="slidenum">
              <a:rPr lang="en-IN" smtClean="0"/>
              <a:t>‹#›</a:t>
            </a:fld>
            <a:endParaRPr lang="en-IN"/>
          </a:p>
        </p:txBody>
      </p:sp>
    </p:spTree>
    <p:extLst>
      <p:ext uri="{BB962C8B-B14F-4D97-AF65-F5344CB8AC3E}">
        <p14:creationId xmlns:p14="http://schemas.microsoft.com/office/powerpoint/2010/main" val="2300551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74CDC-2E1C-9120-8921-D7E02C1C09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6426E2D-F0A1-1167-4964-D6FA5BD200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F08A48-562F-54DA-D55A-AD471350D958}"/>
              </a:ext>
            </a:extLst>
          </p:cNvPr>
          <p:cNvSpPr>
            <a:spLocks noGrp="1"/>
          </p:cNvSpPr>
          <p:nvPr>
            <p:ph type="dt" sz="half" idx="10"/>
          </p:nvPr>
        </p:nvSpPr>
        <p:spPr/>
        <p:txBody>
          <a:bodyPr/>
          <a:lstStyle/>
          <a:p>
            <a:fld id="{C9C2CEBB-9EF1-472F-93A5-7E57D9DDD0F5}" type="datetimeFigureOut">
              <a:rPr lang="en-IN" smtClean="0"/>
              <a:t>17-06-2025</a:t>
            </a:fld>
            <a:endParaRPr lang="en-IN"/>
          </a:p>
        </p:txBody>
      </p:sp>
      <p:sp>
        <p:nvSpPr>
          <p:cNvPr id="5" name="Footer Placeholder 4">
            <a:extLst>
              <a:ext uri="{FF2B5EF4-FFF2-40B4-BE49-F238E27FC236}">
                <a16:creationId xmlns:a16="http://schemas.microsoft.com/office/drawing/2014/main" id="{FE014334-E36C-3305-DC6A-5E01864CA0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964432-349D-8F4B-EB94-FB7429DE16EA}"/>
              </a:ext>
            </a:extLst>
          </p:cNvPr>
          <p:cNvSpPr>
            <a:spLocks noGrp="1"/>
          </p:cNvSpPr>
          <p:nvPr>
            <p:ph type="sldNum" sz="quarter" idx="12"/>
          </p:nvPr>
        </p:nvSpPr>
        <p:spPr/>
        <p:txBody>
          <a:bodyPr/>
          <a:lstStyle/>
          <a:p>
            <a:fld id="{A2F5F565-C15D-4563-B189-5C80D4339949}" type="slidenum">
              <a:rPr lang="en-IN" smtClean="0"/>
              <a:t>‹#›</a:t>
            </a:fld>
            <a:endParaRPr lang="en-IN"/>
          </a:p>
        </p:txBody>
      </p:sp>
    </p:spTree>
    <p:extLst>
      <p:ext uri="{BB962C8B-B14F-4D97-AF65-F5344CB8AC3E}">
        <p14:creationId xmlns:p14="http://schemas.microsoft.com/office/powerpoint/2010/main" val="749090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8EBD8-42CA-D045-89B3-76840A69EC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593FEF-C214-9E71-3EC4-3E5A92486C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14BA40-9154-BCA1-DD2E-3FD2747C8C9D}"/>
              </a:ext>
            </a:extLst>
          </p:cNvPr>
          <p:cNvSpPr>
            <a:spLocks noGrp="1"/>
          </p:cNvSpPr>
          <p:nvPr>
            <p:ph type="dt" sz="half" idx="10"/>
          </p:nvPr>
        </p:nvSpPr>
        <p:spPr/>
        <p:txBody>
          <a:bodyPr/>
          <a:lstStyle/>
          <a:p>
            <a:fld id="{C9C2CEBB-9EF1-472F-93A5-7E57D9DDD0F5}" type="datetimeFigureOut">
              <a:rPr lang="en-IN" smtClean="0"/>
              <a:t>17-06-2025</a:t>
            </a:fld>
            <a:endParaRPr lang="en-IN"/>
          </a:p>
        </p:txBody>
      </p:sp>
      <p:sp>
        <p:nvSpPr>
          <p:cNvPr id="5" name="Footer Placeholder 4">
            <a:extLst>
              <a:ext uri="{FF2B5EF4-FFF2-40B4-BE49-F238E27FC236}">
                <a16:creationId xmlns:a16="http://schemas.microsoft.com/office/drawing/2014/main" id="{077A0B2F-51C5-B8BA-25DC-3EE520ABCB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63A6D4-FE0D-A227-C793-83FD34F3DEFD}"/>
              </a:ext>
            </a:extLst>
          </p:cNvPr>
          <p:cNvSpPr>
            <a:spLocks noGrp="1"/>
          </p:cNvSpPr>
          <p:nvPr>
            <p:ph type="sldNum" sz="quarter" idx="12"/>
          </p:nvPr>
        </p:nvSpPr>
        <p:spPr/>
        <p:txBody>
          <a:bodyPr/>
          <a:lstStyle/>
          <a:p>
            <a:fld id="{A2F5F565-C15D-4563-B189-5C80D4339949}" type="slidenum">
              <a:rPr lang="en-IN" smtClean="0"/>
              <a:t>‹#›</a:t>
            </a:fld>
            <a:endParaRPr lang="en-IN"/>
          </a:p>
        </p:txBody>
      </p:sp>
    </p:spTree>
    <p:extLst>
      <p:ext uri="{BB962C8B-B14F-4D97-AF65-F5344CB8AC3E}">
        <p14:creationId xmlns:p14="http://schemas.microsoft.com/office/powerpoint/2010/main" val="621641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C10CC-1A96-BBDF-92B2-E0F435568E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C735C2-C1C4-1FF2-741B-7532497B64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997C17B-1AF4-8C13-8563-782AE79B92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3C6E143-9B07-BD94-73EA-72075463E2CD}"/>
              </a:ext>
            </a:extLst>
          </p:cNvPr>
          <p:cNvSpPr>
            <a:spLocks noGrp="1"/>
          </p:cNvSpPr>
          <p:nvPr>
            <p:ph type="dt" sz="half" idx="10"/>
          </p:nvPr>
        </p:nvSpPr>
        <p:spPr/>
        <p:txBody>
          <a:bodyPr/>
          <a:lstStyle/>
          <a:p>
            <a:fld id="{C9C2CEBB-9EF1-472F-93A5-7E57D9DDD0F5}" type="datetimeFigureOut">
              <a:rPr lang="en-IN" smtClean="0"/>
              <a:t>17-06-2025</a:t>
            </a:fld>
            <a:endParaRPr lang="en-IN"/>
          </a:p>
        </p:txBody>
      </p:sp>
      <p:sp>
        <p:nvSpPr>
          <p:cNvPr id="6" name="Footer Placeholder 5">
            <a:extLst>
              <a:ext uri="{FF2B5EF4-FFF2-40B4-BE49-F238E27FC236}">
                <a16:creationId xmlns:a16="http://schemas.microsoft.com/office/drawing/2014/main" id="{EDEF8D82-3D2D-023F-881C-2ECCA980C6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AE22A7-5EC2-0B9E-B848-E3F0E6C1BF53}"/>
              </a:ext>
            </a:extLst>
          </p:cNvPr>
          <p:cNvSpPr>
            <a:spLocks noGrp="1"/>
          </p:cNvSpPr>
          <p:nvPr>
            <p:ph type="sldNum" sz="quarter" idx="12"/>
          </p:nvPr>
        </p:nvSpPr>
        <p:spPr/>
        <p:txBody>
          <a:bodyPr/>
          <a:lstStyle/>
          <a:p>
            <a:fld id="{A2F5F565-C15D-4563-B189-5C80D4339949}" type="slidenum">
              <a:rPr lang="en-IN" smtClean="0"/>
              <a:t>‹#›</a:t>
            </a:fld>
            <a:endParaRPr lang="en-IN"/>
          </a:p>
        </p:txBody>
      </p:sp>
    </p:spTree>
    <p:extLst>
      <p:ext uri="{BB962C8B-B14F-4D97-AF65-F5344CB8AC3E}">
        <p14:creationId xmlns:p14="http://schemas.microsoft.com/office/powerpoint/2010/main" val="617919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96629-4AB3-8B3E-D760-708F328D5A5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E28CD7-DE26-003B-8038-F487047D0B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32FEF1-756F-A688-2AB5-E563CCD786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B4C0FBA-2F91-7818-B8A1-B07BEDFFEE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24BB6F-701C-84BC-0978-83C75F065B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CB93C80-1019-9E04-D44F-65B21FDA4073}"/>
              </a:ext>
            </a:extLst>
          </p:cNvPr>
          <p:cNvSpPr>
            <a:spLocks noGrp="1"/>
          </p:cNvSpPr>
          <p:nvPr>
            <p:ph type="dt" sz="half" idx="10"/>
          </p:nvPr>
        </p:nvSpPr>
        <p:spPr/>
        <p:txBody>
          <a:bodyPr/>
          <a:lstStyle/>
          <a:p>
            <a:fld id="{C9C2CEBB-9EF1-472F-93A5-7E57D9DDD0F5}" type="datetimeFigureOut">
              <a:rPr lang="en-IN" smtClean="0"/>
              <a:t>17-06-2025</a:t>
            </a:fld>
            <a:endParaRPr lang="en-IN"/>
          </a:p>
        </p:txBody>
      </p:sp>
      <p:sp>
        <p:nvSpPr>
          <p:cNvPr id="8" name="Footer Placeholder 7">
            <a:extLst>
              <a:ext uri="{FF2B5EF4-FFF2-40B4-BE49-F238E27FC236}">
                <a16:creationId xmlns:a16="http://schemas.microsoft.com/office/drawing/2014/main" id="{89D1485C-2AE4-DFDA-D471-6F2ECB94352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9BC394A-CF67-DD71-7515-F29A59218957}"/>
              </a:ext>
            </a:extLst>
          </p:cNvPr>
          <p:cNvSpPr>
            <a:spLocks noGrp="1"/>
          </p:cNvSpPr>
          <p:nvPr>
            <p:ph type="sldNum" sz="quarter" idx="12"/>
          </p:nvPr>
        </p:nvSpPr>
        <p:spPr/>
        <p:txBody>
          <a:bodyPr/>
          <a:lstStyle/>
          <a:p>
            <a:fld id="{A2F5F565-C15D-4563-B189-5C80D4339949}" type="slidenum">
              <a:rPr lang="en-IN" smtClean="0"/>
              <a:t>‹#›</a:t>
            </a:fld>
            <a:endParaRPr lang="en-IN"/>
          </a:p>
        </p:txBody>
      </p:sp>
    </p:spTree>
    <p:extLst>
      <p:ext uri="{BB962C8B-B14F-4D97-AF65-F5344CB8AC3E}">
        <p14:creationId xmlns:p14="http://schemas.microsoft.com/office/powerpoint/2010/main" val="4077256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77E71-2576-F7F7-4C54-CAD3443FCBA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4774B8B-B860-B93F-9D5D-AD08CD2E6252}"/>
              </a:ext>
            </a:extLst>
          </p:cNvPr>
          <p:cNvSpPr>
            <a:spLocks noGrp="1"/>
          </p:cNvSpPr>
          <p:nvPr>
            <p:ph type="dt" sz="half" idx="10"/>
          </p:nvPr>
        </p:nvSpPr>
        <p:spPr/>
        <p:txBody>
          <a:bodyPr/>
          <a:lstStyle/>
          <a:p>
            <a:fld id="{C9C2CEBB-9EF1-472F-93A5-7E57D9DDD0F5}" type="datetimeFigureOut">
              <a:rPr lang="en-IN" smtClean="0"/>
              <a:t>17-06-2025</a:t>
            </a:fld>
            <a:endParaRPr lang="en-IN"/>
          </a:p>
        </p:txBody>
      </p:sp>
      <p:sp>
        <p:nvSpPr>
          <p:cNvPr id="4" name="Footer Placeholder 3">
            <a:extLst>
              <a:ext uri="{FF2B5EF4-FFF2-40B4-BE49-F238E27FC236}">
                <a16:creationId xmlns:a16="http://schemas.microsoft.com/office/drawing/2014/main" id="{96634379-3B52-D785-1196-63ED8FF9334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067A51E-FF15-2E4A-9D30-78A31F43FBD5}"/>
              </a:ext>
            </a:extLst>
          </p:cNvPr>
          <p:cNvSpPr>
            <a:spLocks noGrp="1"/>
          </p:cNvSpPr>
          <p:nvPr>
            <p:ph type="sldNum" sz="quarter" idx="12"/>
          </p:nvPr>
        </p:nvSpPr>
        <p:spPr/>
        <p:txBody>
          <a:bodyPr/>
          <a:lstStyle/>
          <a:p>
            <a:fld id="{A2F5F565-C15D-4563-B189-5C80D4339949}" type="slidenum">
              <a:rPr lang="en-IN" smtClean="0"/>
              <a:t>‹#›</a:t>
            </a:fld>
            <a:endParaRPr lang="en-IN"/>
          </a:p>
        </p:txBody>
      </p:sp>
    </p:spTree>
    <p:extLst>
      <p:ext uri="{BB962C8B-B14F-4D97-AF65-F5344CB8AC3E}">
        <p14:creationId xmlns:p14="http://schemas.microsoft.com/office/powerpoint/2010/main" val="2146136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AF7B48-3B41-673C-9E77-592307E84E0B}"/>
              </a:ext>
            </a:extLst>
          </p:cNvPr>
          <p:cNvSpPr>
            <a:spLocks noGrp="1"/>
          </p:cNvSpPr>
          <p:nvPr>
            <p:ph type="dt" sz="half" idx="10"/>
          </p:nvPr>
        </p:nvSpPr>
        <p:spPr/>
        <p:txBody>
          <a:bodyPr/>
          <a:lstStyle/>
          <a:p>
            <a:fld id="{C9C2CEBB-9EF1-472F-93A5-7E57D9DDD0F5}" type="datetimeFigureOut">
              <a:rPr lang="en-IN" smtClean="0"/>
              <a:t>17-06-2025</a:t>
            </a:fld>
            <a:endParaRPr lang="en-IN"/>
          </a:p>
        </p:txBody>
      </p:sp>
      <p:sp>
        <p:nvSpPr>
          <p:cNvPr id="3" name="Footer Placeholder 2">
            <a:extLst>
              <a:ext uri="{FF2B5EF4-FFF2-40B4-BE49-F238E27FC236}">
                <a16:creationId xmlns:a16="http://schemas.microsoft.com/office/drawing/2014/main" id="{BB5700B9-6CC0-FA62-92BB-81D2D0728E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D2333E-7F2B-5822-E16E-FFD91A568CDF}"/>
              </a:ext>
            </a:extLst>
          </p:cNvPr>
          <p:cNvSpPr>
            <a:spLocks noGrp="1"/>
          </p:cNvSpPr>
          <p:nvPr>
            <p:ph type="sldNum" sz="quarter" idx="12"/>
          </p:nvPr>
        </p:nvSpPr>
        <p:spPr/>
        <p:txBody>
          <a:bodyPr/>
          <a:lstStyle/>
          <a:p>
            <a:fld id="{A2F5F565-C15D-4563-B189-5C80D4339949}" type="slidenum">
              <a:rPr lang="en-IN" smtClean="0"/>
              <a:t>‹#›</a:t>
            </a:fld>
            <a:endParaRPr lang="en-IN"/>
          </a:p>
        </p:txBody>
      </p:sp>
    </p:spTree>
    <p:extLst>
      <p:ext uri="{BB962C8B-B14F-4D97-AF65-F5344CB8AC3E}">
        <p14:creationId xmlns:p14="http://schemas.microsoft.com/office/powerpoint/2010/main" val="2370033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D281-7950-A94D-C53C-5248D215B8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6E63170-038E-14A6-F74E-A03338DDEF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0D440DC-D1BF-D1B3-369F-035DD5196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810555-2470-516D-89D5-72E9051E19D4}"/>
              </a:ext>
            </a:extLst>
          </p:cNvPr>
          <p:cNvSpPr>
            <a:spLocks noGrp="1"/>
          </p:cNvSpPr>
          <p:nvPr>
            <p:ph type="dt" sz="half" idx="10"/>
          </p:nvPr>
        </p:nvSpPr>
        <p:spPr/>
        <p:txBody>
          <a:bodyPr/>
          <a:lstStyle/>
          <a:p>
            <a:fld id="{C9C2CEBB-9EF1-472F-93A5-7E57D9DDD0F5}" type="datetimeFigureOut">
              <a:rPr lang="en-IN" smtClean="0"/>
              <a:t>17-06-2025</a:t>
            </a:fld>
            <a:endParaRPr lang="en-IN"/>
          </a:p>
        </p:txBody>
      </p:sp>
      <p:sp>
        <p:nvSpPr>
          <p:cNvPr id="6" name="Footer Placeholder 5">
            <a:extLst>
              <a:ext uri="{FF2B5EF4-FFF2-40B4-BE49-F238E27FC236}">
                <a16:creationId xmlns:a16="http://schemas.microsoft.com/office/drawing/2014/main" id="{F9E4E021-4FDF-F534-E6C6-DEC1D2181D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31CB46-ECB4-4F74-6E8E-9F6815DA350E}"/>
              </a:ext>
            </a:extLst>
          </p:cNvPr>
          <p:cNvSpPr>
            <a:spLocks noGrp="1"/>
          </p:cNvSpPr>
          <p:nvPr>
            <p:ph type="sldNum" sz="quarter" idx="12"/>
          </p:nvPr>
        </p:nvSpPr>
        <p:spPr/>
        <p:txBody>
          <a:bodyPr/>
          <a:lstStyle/>
          <a:p>
            <a:fld id="{A2F5F565-C15D-4563-B189-5C80D4339949}" type="slidenum">
              <a:rPr lang="en-IN" smtClean="0"/>
              <a:t>‹#›</a:t>
            </a:fld>
            <a:endParaRPr lang="en-IN"/>
          </a:p>
        </p:txBody>
      </p:sp>
    </p:spTree>
    <p:extLst>
      <p:ext uri="{BB962C8B-B14F-4D97-AF65-F5344CB8AC3E}">
        <p14:creationId xmlns:p14="http://schemas.microsoft.com/office/powerpoint/2010/main" val="670182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B9A96-430E-0B33-37E7-F76BFA7949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C3692EB-A3F8-A425-B2F6-F5D1FC9820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C3A241-B69B-153F-58D8-74322715C5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3A9BB0-9F04-6A18-9945-EAD28CE36E03}"/>
              </a:ext>
            </a:extLst>
          </p:cNvPr>
          <p:cNvSpPr>
            <a:spLocks noGrp="1"/>
          </p:cNvSpPr>
          <p:nvPr>
            <p:ph type="dt" sz="half" idx="10"/>
          </p:nvPr>
        </p:nvSpPr>
        <p:spPr/>
        <p:txBody>
          <a:bodyPr/>
          <a:lstStyle/>
          <a:p>
            <a:fld id="{C9C2CEBB-9EF1-472F-93A5-7E57D9DDD0F5}" type="datetimeFigureOut">
              <a:rPr lang="en-IN" smtClean="0"/>
              <a:t>17-06-2025</a:t>
            </a:fld>
            <a:endParaRPr lang="en-IN"/>
          </a:p>
        </p:txBody>
      </p:sp>
      <p:sp>
        <p:nvSpPr>
          <p:cNvPr id="6" name="Footer Placeholder 5">
            <a:extLst>
              <a:ext uri="{FF2B5EF4-FFF2-40B4-BE49-F238E27FC236}">
                <a16:creationId xmlns:a16="http://schemas.microsoft.com/office/drawing/2014/main" id="{BB45FD4A-1814-9F83-7772-F88DCA1989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D0DD53-E068-D301-5ED2-69DEB95744F4}"/>
              </a:ext>
            </a:extLst>
          </p:cNvPr>
          <p:cNvSpPr>
            <a:spLocks noGrp="1"/>
          </p:cNvSpPr>
          <p:nvPr>
            <p:ph type="sldNum" sz="quarter" idx="12"/>
          </p:nvPr>
        </p:nvSpPr>
        <p:spPr/>
        <p:txBody>
          <a:bodyPr/>
          <a:lstStyle/>
          <a:p>
            <a:fld id="{A2F5F565-C15D-4563-B189-5C80D4339949}" type="slidenum">
              <a:rPr lang="en-IN" smtClean="0"/>
              <a:t>‹#›</a:t>
            </a:fld>
            <a:endParaRPr lang="en-IN"/>
          </a:p>
        </p:txBody>
      </p:sp>
    </p:spTree>
    <p:extLst>
      <p:ext uri="{BB962C8B-B14F-4D97-AF65-F5344CB8AC3E}">
        <p14:creationId xmlns:p14="http://schemas.microsoft.com/office/powerpoint/2010/main" val="1768986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22015-F2B5-14DE-8DF9-7B9E8FEB701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83BBF6-D41A-7942-EAD1-77F67CEFA5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D5B893-B7DA-2AE8-DFF5-6B2BDBBD06EC}"/>
              </a:ext>
            </a:extLst>
          </p:cNvPr>
          <p:cNvSpPr>
            <a:spLocks noGrp="1"/>
          </p:cNvSpPr>
          <p:nvPr>
            <p:ph type="dt" sz="half" idx="10"/>
          </p:nvPr>
        </p:nvSpPr>
        <p:spPr/>
        <p:txBody>
          <a:bodyPr/>
          <a:lstStyle/>
          <a:p>
            <a:fld id="{C9C2CEBB-9EF1-472F-93A5-7E57D9DDD0F5}" type="datetimeFigureOut">
              <a:rPr lang="en-IN" smtClean="0"/>
              <a:t>17-06-2025</a:t>
            </a:fld>
            <a:endParaRPr lang="en-IN"/>
          </a:p>
        </p:txBody>
      </p:sp>
      <p:sp>
        <p:nvSpPr>
          <p:cNvPr id="5" name="Footer Placeholder 4">
            <a:extLst>
              <a:ext uri="{FF2B5EF4-FFF2-40B4-BE49-F238E27FC236}">
                <a16:creationId xmlns:a16="http://schemas.microsoft.com/office/drawing/2014/main" id="{0A6DA4EA-1CD7-ECBE-0047-BBF86B3249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0204F0-5F6C-0907-E0B6-C3DDD7FF4B40}"/>
              </a:ext>
            </a:extLst>
          </p:cNvPr>
          <p:cNvSpPr>
            <a:spLocks noGrp="1"/>
          </p:cNvSpPr>
          <p:nvPr>
            <p:ph type="sldNum" sz="quarter" idx="12"/>
          </p:nvPr>
        </p:nvSpPr>
        <p:spPr/>
        <p:txBody>
          <a:bodyPr/>
          <a:lstStyle/>
          <a:p>
            <a:fld id="{A2F5F565-C15D-4563-B189-5C80D4339949}" type="slidenum">
              <a:rPr lang="en-IN" smtClean="0"/>
              <a:t>‹#›</a:t>
            </a:fld>
            <a:endParaRPr lang="en-IN"/>
          </a:p>
        </p:txBody>
      </p:sp>
    </p:spTree>
    <p:extLst>
      <p:ext uri="{BB962C8B-B14F-4D97-AF65-F5344CB8AC3E}">
        <p14:creationId xmlns:p14="http://schemas.microsoft.com/office/powerpoint/2010/main" val="2742294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E936E3-E7BC-7CB3-CBE9-368DD3A4B7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D77747-0CE4-940E-9C5A-407D6FA7B2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F4DD54-38C7-8B44-6C94-F75D5F703953}"/>
              </a:ext>
            </a:extLst>
          </p:cNvPr>
          <p:cNvSpPr>
            <a:spLocks noGrp="1"/>
          </p:cNvSpPr>
          <p:nvPr>
            <p:ph type="dt" sz="half" idx="10"/>
          </p:nvPr>
        </p:nvSpPr>
        <p:spPr/>
        <p:txBody>
          <a:bodyPr/>
          <a:lstStyle/>
          <a:p>
            <a:fld id="{C9C2CEBB-9EF1-472F-93A5-7E57D9DDD0F5}" type="datetimeFigureOut">
              <a:rPr lang="en-IN" smtClean="0"/>
              <a:t>17-06-2025</a:t>
            </a:fld>
            <a:endParaRPr lang="en-IN"/>
          </a:p>
        </p:txBody>
      </p:sp>
      <p:sp>
        <p:nvSpPr>
          <p:cNvPr id="5" name="Footer Placeholder 4">
            <a:extLst>
              <a:ext uri="{FF2B5EF4-FFF2-40B4-BE49-F238E27FC236}">
                <a16:creationId xmlns:a16="http://schemas.microsoft.com/office/drawing/2014/main" id="{EDB80EE1-6CAA-1B7F-0903-852CAFEAF5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CBA6F9-F820-A5F8-FF0E-7F85D1562A1A}"/>
              </a:ext>
            </a:extLst>
          </p:cNvPr>
          <p:cNvSpPr>
            <a:spLocks noGrp="1"/>
          </p:cNvSpPr>
          <p:nvPr>
            <p:ph type="sldNum" sz="quarter" idx="12"/>
          </p:nvPr>
        </p:nvSpPr>
        <p:spPr/>
        <p:txBody>
          <a:bodyPr/>
          <a:lstStyle/>
          <a:p>
            <a:fld id="{A2F5F565-C15D-4563-B189-5C80D4339949}" type="slidenum">
              <a:rPr lang="en-IN" smtClean="0"/>
              <a:t>‹#›</a:t>
            </a:fld>
            <a:endParaRPr lang="en-IN"/>
          </a:p>
        </p:txBody>
      </p:sp>
    </p:spTree>
    <p:extLst>
      <p:ext uri="{BB962C8B-B14F-4D97-AF65-F5344CB8AC3E}">
        <p14:creationId xmlns:p14="http://schemas.microsoft.com/office/powerpoint/2010/main" val="511102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0"/>
            <a:lum/>
          </a:blip>
          <a:srcRect/>
          <a:stretch>
            <a:fillRect l="21000" t="7000" r="20000" b="8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843DD6-EEEB-619C-68D1-F5B2B2CCAF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8CB6A9-F682-2C71-7A2B-4DF1DC5C4A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FEE954-D38C-A770-0F73-FD8B0D2A99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C2CEBB-9EF1-472F-93A5-7E57D9DDD0F5}" type="datetimeFigureOut">
              <a:rPr lang="en-IN" smtClean="0"/>
              <a:t>17-06-2025</a:t>
            </a:fld>
            <a:endParaRPr lang="en-IN"/>
          </a:p>
        </p:txBody>
      </p:sp>
      <p:sp>
        <p:nvSpPr>
          <p:cNvPr id="5" name="Footer Placeholder 4">
            <a:extLst>
              <a:ext uri="{FF2B5EF4-FFF2-40B4-BE49-F238E27FC236}">
                <a16:creationId xmlns:a16="http://schemas.microsoft.com/office/drawing/2014/main" id="{3B9EC587-DFFF-F104-4677-0637B205F5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25DA220-4610-8C68-24F9-0C780B0C31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F5F565-C15D-4563-B189-5C80D4339949}" type="slidenum">
              <a:rPr lang="en-IN" smtClean="0"/>
              <a:t>‹#›</a:t>
            </a:fld>
            <a:endParaRPr lang="en-IN"/>
          </a:p>
        </p:txBody>
      </p:sp>
    </p:spTree>
    <p:extLst>
      <p:ext uri="{BB962C8B-B14F-4D97-AF65-F5344CB8AC3E}">
        <p14:creationId xmlns:p14="http://schemas.microsoft.com/office/powerpoint/2010/main" val="8477711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hyperlink" Target="https://doi.org/10.1109/XXXXX.2022.1234567" TargetMode="Externa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60F34-DE51-F1FF-18F7-2D3085CF487F}"/>
              </a:ext>
            </a:extLst>
          </p:cNvPr>
          <p:cNvSpPr>
            <a:spLocks noGrp="1"/>
          </p:cNvSpPr>
          <p:nvPr>
            <p:ph type="title"/>
          </p:nvPr>
        </p:nvSpPr>
        <p:spPr>
          <a:xfrm>
            <a:off x="838199" y="1815193"/>
            <a:ext cx="10515600" cy="2010696"/>
          </a:xfrm>
        </p:spPr>
        <p:txBody>
          <a:bodyPr>
            <a:normAutofit/>
          </a:bodyPr>
          <a:lstStyle/>
          <a:p>
            <a:pPr algn="ctr"/>
            <a:r>
              <a:rPr lang="en-US" sz="5100" b="1"/>
              <a:t>  </a:t>
            </a:r>
            <a:r>
              <a:rPr lang="en-US" sz="5400" b="1"/>
              <a:t>Analyzing E-Commerce Shipment Delivery and Customer Satisfaction</a:t>
            </a:r>
            <a:endParaRPr lang="en-IN" sz="5100" b="1"/>
          </a:p>
        </p:txBody>
      </p:sp>
      <p:sp>
        <p:nvSpPr>
          <p:cNvPr id="3" name="Content Placeholder 2">
            <a:extLst>
              <a:ext uri="{FF2B5EF4-FFF2-40B4-BE49-F238E27FC236}">
                <a16:creationId xmlns:a16="http://schemas.microsoft.com/office/drawing/2014/main" id="{D90AB91B-35DF-7DA8-14DD-D14D85B8DBF5}"/>
              </a:ext>
            </a:extLst>
          </p:cNvPr>
          <p:cNvSpPr>
            <a:spLocks noGrp="1"/>
          </p:cNvSpPr>
          <p:nvPr>
            <p:ph idx="1"/>
          </p:nvPr>
        </p:nvSpPr>
        <p:spPr>
          <a:xfrm>
            <a:off x="6902968" y="4670324"/>
            <a:ext cx="5050600" cy="2175719"/>
          </a:xfrm>
        </p:spPr>
        <p:txBody>
          <a:bodyPr vert="horz" lIns="91440" tIns="45720" rIns="91440" bIns="45720" rtlCol="0" anchor="t">
            <a:normAutofit/>
          </a:bodyPr>
          <a:lstStyle/>
          <a:p>
            <a:pPr marL="0" indent="0">
              <a:buNone/>
            </a:pPr>
            <a:r>
              <a:rPr lang="en-US"/>
              <a:t>G.</a:t>
            </a:r>
            <a:r>
              <a:rPr lang="en-IN"/>
              <a:t> </a:t>
            </a:r>
            <a:r>
              <a:rPr lang="en-US" err="1"/>
              <a:t>Chandrashekar</a:t>
            </a:r>
            <a:endParaRPr lang="en-IN">
              <a:ea typeface="Calibri"/>
              <a:cs typeface="Calibri"/>
            </a:endParaRPr>
          </a:p>
          <a:p>
            <a:pPr marL="0" indent="0">
              <a:buNone/>
            </a:pPr>
            <a:r>
              <a:rPr lang="en-US"/>
              <a:t>V. </a:t>
            </a:r>
            <a:r>
              <a:rPr lang="en-US" err="1"/>
              <a:t>Vineela</a:t>
            </a:r>
            <a:endParaRPr lang="en-US">
              <a:ea typeface="Calibri"/>
              <a:cs typeface="Calibri"/>
            </a:endParaRPr>
          </a:p>
          <a:p>
            <a:pPr marL="514350" indent="-514350">
              <a:buAutoNum type="alphaUcPeriod"/>
            </a:pPr>
            <a:r>
              <a:rPr lang="en-US" err="1"/>
              <a:t>Deepika</a:t>
            </a:r>
            <a:endParaRPr lang="en-US">
              <a:ea typeface="Calibri"/>
              <a:cs typeface="Calibri"/>
            </a:endParaRPr>
          </a:p>
          <a:p>
            <a:pPr marL="0" indent="0">
              <a:buNone/>
            </a:pPr>
            <a:r>
              <a:rPr lang="en-US"/>
              <a:t>T. Bunny</a:t>
            </a:r>
            <a:endParaRPr lang="en-US">
              <a:ea typeface="Calibri"/>
              <a:cs typeface="Calibri"/>
            </a:endParaRP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IN"/>
          </a:p>
        </p:txBody>
      </p:sp>
      <p:sp>
        <p:nvSpPr>
          <p:cNvPr id="4" name="Freeform 4">
            <a:extLst>
              <a:ext uri="{FF2B5EF4-FFF2-40B4-BE49-F238E27FC236}">
                <a16:creationId xmlns:a16="http://schemas.microsoft.com/office/drawing/2014/main" id="{EC277D02-F64D-5C1A-6957-B256399063AF}"/>
              </a:ext>
            </a:extLst>
          </p:cNvPr>
          <p:cNvSpPr/>
          <p:nvPr/>
        </p:nvSpPr>
        <p:spPr>
          <a:xfrm>
            <a:off x="20698" y="0"/>
            <a:ext cx="12150603" cy="1815193"/>
          </a:xfrm>
          <a:custGeom>
            <a:avLst/>
            <a:gdLst/>
            <a:ahLst/>
            <a:cxnLst/>
            <a:rect l="l" t="t" r="r" b="b"/>
            <a:pathLst>
              <a:path w="18225904" h="2722790">
                <a:moveTo>
                  <a:pt x="0" y="0"/>
                </a:moveTo>
                <a:lnTo>
                  <a:pt x="18225905" y="0"/>
                </a:lnTo>
                <a:lnTo>
                  <a:pt x="18225905" y="2722790"/>
                </a:lnTo>
                <a:lnTo>
                  <a:pt x="0" y="2722790"/>
                </a:lnTo>
                <a:lnTo>
                  <a:pt x="0" y="0"/>
                </a:lnTo>
                <a:close/>
              </a:path>
            </a:pathLst>
          </a:custGeom>
          <a:blipFill>
            <a:blip r:embed="rId2"/>
            <a:stretch>
              <a:fillRect l="-59" t="-496" b="-127"/>
            </a:stretch>
          </a:blipFill>
          <a:ln w="38100" cap="sq">
            <a:solidFill>
              <a:srgbClr val="000000"/>
            </a:solidFill>
            <a:prstDash val="solid"/>
            <a:miter/>
          </a:ln>
        </p:spPr>
      </p:sp>
      <p:sp>
        <p:nvSpPr>
          <p:cNvPr id="5" name="TextBox 4">
            <a:extLst>
              <a:ext uri="{FF2B5EF4-FFF2-40B4-BE49-F238E27FC236}">
                <a16:creationId xmlns:a16="http://schemas.microsoft.com/office/drawing/2014/main" id="{FCCC0D8B-A718-1E81-E1E2-4E1E93EC2D6D}"/>
              </a:ext>
            </a:extLst>
          </p:cNvPr>
          <p:cNvSpPr txBox="1"/>
          <p:nvPr/>
        </p:nvSpPr>
        <p:spPr>
          <a:xfrm>
            <a:off x="1432560" y="4907280"/>
            <a:ext cx="3507692" cy="1384995"/>
          </a:xfrm>
          <a:prstGeom prst="rect">
            <a:avLst/>
          </a:prstGeom>
          <a:noFill/>
        </p:spPr>
        <p:txBody>
          <a:bodyPr wrap="none" rtlCol="0">
            <a:spAutoFit/>
          </a:bodyPr>
          <a:lstStyle/>
          <a:p>
            <a:r>
              <a:rPr lang="en-US" sz="2800" b="1"/>
              <a:t>Under the guidance of</a:t>
            </a:r>
          </a:p>
          <a:p>
            <a:r>
              <a:rPr lang="en-US" sz="3200"/>
              <a:t>Maram Ramadevi</a:t>
            </a:r>
            <a:endParaRPr lang="en-US"/>
          </a:p>
          <a:p>
            <a:r>
              <a:rPr lang="en-US" sz="2400"/>
              <a:t>Assistant Professor</a:t>
            </a:r>
            <a:endParaRPr lang="en-IN"/>
          </a:p>
        </p:txBody>
      </p:sp>
    </p:spTree>
    <p:extLst>
      <p:ext uri="{BB962C8B-B14F-4D97-AF65-F5344CB8AC3E}">
        <p14:creationId xmlns:p14="http://schemas.microsoft.com/office/powerpoint/2010/main" val="1465050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F49FE-0EB2-BCC4-9524-EECE063B8E50}"/>
              </a:ext>
            </a:extLst>
          </p:cNvPr>
          <p:cNvSpPr>
            <a:spLocks noGrp="1"/>
          </p:cNvSpPr>
          <p:nvPr>
            <p:ph type="title"/>
          </p:nvPr>
        </p:nvSpPr>
        <p:spPr>
          <a:xfrm>
            <a:off x="572729" y="-99177"/>
            <a:ext cx="10515600" cy="1194199"/>
          </a:xfrm>
        </p:spPr>
        <p:txBody>
          <a:bodyPr>
            <a:normAutofit/>
          </a:bodyPr>
          <a:lstStyle/>
          <a:p>
            <a:r>
              <a:rPr lang="en-US" sz="5100" b="1"/>
              <a:t>Index:</a:t>
            </a:r>
            <a:endParaRPr lang="en-IN" sz="5100" b="1"/>
          </a:p>
        </p:txBody>
      </p:sp>
      <p:sp>
        <p:nvSpPr>
          <p:cNvPr id="3" name="Content Placeholder 2">
            <a:extLst>
              <a:ext uri="{FF2B5EF4-FFF2-40B4-BE49-F238E27FC236}">
                <a16:creationId xmlns:a16="http://schemas.microsoft.com/office/drawing/2014/main" id="{DDFC6626-EA85-EF65-706F-9032FD6C4F2F}"/>
              </a:ext>
            </a:extLst>
          </p:cNvPr>
          <p:cNvSpPr>
            <a:spLocks noGrp="1"/>
          </p:cNvSpPr>
          <p:nvPr>
            <p:ph idx="1"/>
          </p:nvPr>
        </p:nvSpPr>
        <p:spPr>
          <a:xfrm>
            <a:off x="386443" y="1095020"/>
            <a:ext cx="4544786" cy="5678311"/>
          </a:xfrm>
        </p:spPr>
        <p:txBody>
          <a:bodyPr>
            <a:normAutofit fontScale="92500" lnSpcReduction="20000"/>
          </a:bodyPr>
          <a:lstStyle/>
          <a:p>
            <a:pPr>
              <a:buFont typeface="Wingdings" panose="05000000000000000000" pitchFamily="2" charset="2"/>
              <a:buChar char="Ø"/>
            </a:pPr>
            <a:r>
              <a:rPr lang="en-US" sz="3600"/>
              <a:t>Abstract</a:t>
            </a:r>
          </a:p>
          <a:p>
            <a:pPr>
              <a:buFont typeface="Wingdings" panose="05000000000000000000" pitchFamily="2" charset="2"/>
              <a:buChar char="Ø"/>
            </a:pPr>
            <a:r>
              <a:rPr lang="en-US" sz="3600"/>
              <a:t>Introduction</a:t>
            </a:r>
          </a:p>
          <a:p>
            <a:pPr>
              <a:buFont typeface="Wingdings" panose="05000000000000000000" pitchFamily="2" charset="2"/>
              <a:buChar char="Ø"/>
            </a:pPr>
            <a:r>
              <a:rPr lang="en-US" sz="3600">
                <a:latin typeface="Times New Roman" panose="02020603050405020304" pitchFamily="18" charset="0"/>
                <a:cs typeface="Times New Roman" panose="02020603050405020304" pitchFamily="18" charset="0"/>
              </a:rPr>
              <a:t>Motivation </a:t>
            </a:r>
            <a:endParaRPr lang="en-US" sz="3600"/>
          </a:p>
          <a:p>
            <a:pPr>
              <a:buFont typeface="Wingdings" panose="05000000000000000000" pitchFamily="2" charset="2"/>
              <a:buChar char="Ø"/>
            </a:pPr>
            <a:r>
              <a:rPr lang="en-US" sz="3600"/>
              <a:t>Problem Definition</a:t>
            </a:r>
          </a:p>
          <a:p>
            <a:pPr>
              <a:buFont typeface="Wingdings" panose="05000000000000000000" pitchFamily="2" charset="2"/>
              <a:buChar char="Ø"/>
            </a:pPr>
            <a:r>
              <a:rPr lang="en-US" sz="3600"/>
              <a:t>Literature Survey</a:t>
            </a:r>
          </a:p>
          <a:p>
            <a:pPr>
              <a:buFont typeface="Wingdings" panose="05000000000000000000" pitchFamily="2" charset="2"/>
              <a:buChar char="Ø"/>
            </a:pPr>
            <a:r>
              <a:rPr lang="en-US" sz="3600"/>
              <a:t>Research Gaps</a:t>
            </a:r>
          </a:p>
          <a:p>
            <a:pPr>
              <a:buFont typeface="Wingdings" panose="05000000000000000000" pitchFamily="2" charset="2"/>
              <a:buChar char="Ø"/>
            </a:pPr>
            <a:r>
              <a:rPr lang="en-US" sz="3600"/>
              <a:t>Proposed System</a:t>
            </a:r>
          </a:p>
          <a:p>
            <a:pPr>
              <a:buFont typeface="Wingdings" panose="05000000000000000000" pitchFamily="2" charset="2"/>
              <a:buChar char="Ø"/>
            </a:pPr>
            <a:r>
              <a:rPr lang="en-US" sz="3600"/>
              <a:t>Existing Methodology</a:t>
            </a:r>
          </a:p>
          <a:p>
            <a:pPr>
              <a:buFont typeface="Wingdings" panose="05000000000000000000" pitchFamily="2" charset="2"/>
              <a:buChar char="Ø"/>
            </a:pPr>
            <a:r>
              <a:rPr lang="en-US" sz="3600"/>
              <a:t>Drawbacks</a:t>
            </a:r>
          </a:p>
          <a:p>
            <a:pPr>
              <a:buFont typeface="Wingdings" panose="05000000000000000000" pitchFamily="2" charset="2"/>
              <a:buChar char="Ø"/>
            </a:pPr>
            <a:r>
              <a:rPr lang="en-US" sz="3600"/>
              <a:t>Proposed Methodology</a:t>
            </a:r>
          </a:p>
          <a:p>
            <a:pPr>
              <a:buFont typeface="Wingdings" panose="05000000000000000000" pitchFamily="2" charset="2"/>
              <a:buChar char="Ø"/>
            </a:pPr>
            <a:r>
              <a:rPr lang="en-US" sz="3600"/>
              <a:t>Software Details</a:t>
            </a:r>
          </a:p>
          <a:p>
            <a:pPr>
              <a:buFont typeface="Wingdings" panose="05000000000000000000" pitchFamily="2" charset="2"/>
              <a:buChar char="Ø"/>
            </a:pPr>
            <a:endParaRPr lang="en-US"/>
          </a:p>
          <a:p>
            <a:pPr>
              <a:buFont typeface="Wingdings" panose="05000000000000000000" pitchFamily="2" charset="2"/>
              <a:buChar char="Ø"/>
            </a:pPr>
            <a:endParaRPr lang="en-IN"/>
          </a:p>
        </p:txBody>
      </p:sp>
      <p:sp>
        <p:nvSpPr>
          <p:cNvPr id="6" name="TextBox 5">
            <a:extLst>
              <a:ext uri="{FF2B5EF4-FFF2-40B4-BE49-F238E27FC236}">
                <a16:creationId xmlns:a16="http://schemas.microsoft.com/office/drawing/2014/main" id="{ADF4BC12-58C5-A112-507E-6C67BABD7D91}"/>
              </a:ext>
            </a:extLst>
          </p:cNvPr>
          <p:cNvSpPr txBox="1"/>
          <p:nvPr/>
        </p:nvSpPr>
        <p:spPr>
          <a:xfrm>
            <a:off x="5355773" y="1136064"/>
            <a:ext cx="6155870" cy="4585871"/>
          </a:xfrm>
          <a:prstGeom prst="rect">
            <a:avLst/>
          </a:prstGeom>
          <a:noFill/>
        </p:spPr>
        <p:txBody>
          <a:bodyPr wrap="square" rtlCol="0">
            <a:spAutoFit/>
          </a:bodyPr>
          <a:lstStyle/>
          <a:p>
            <a:pPr marL="285750" indent="-285750">
              <a:buFont typeface="Wingdings" panose="05000000000000000000" pitchFamily="2" charset="2"/>
              <a:buChar char="Ø"/>
            </a:pPr>
            <a:r>
              <a:rPr lang="en-US" sz="3200"/>
              <a:t>Detailed proposed methodology </a:t>
            </a:r>
          </a:p>
          <a:p>
            <a:pPr marL="285750" indent="-285750">
              <a:buFont typeface="Wingdings" panose="05000000000000000000" pitchFamily="2" charset="2"/>
              <a:buChar char="Ø"/>
            </a:pPr>
            <a:r>
              <a:rPr lang="en-US" sz="3200"/>
              <a:t>Sample code</a:t>
            </a:r>
          </a:p>
          <a:p>
            <a:pPr marL="285750" indent="-285750">
              <a:buFont typeface="Wingdings" panose="05000000000000000000" pitchFamily="2" charset="2"/>
              <a:buChar char="Ø"/>
            </a:pPr>
            <a:r>
              <a:rPr lang="en-US" sz="3200"/>
              <a:t>Packages used</a:t>
            </a:r>
          </a:p>
          <a:p>
            <a:pPr marL="285750" indent="-285750">
              <a:buFont typeface="Wingdings" panose="05000000000000000000" pitchFamily="2" charset="2"/>
              <a:buChar char="Ø"/>
            </a:pPr>
            <a:r>
              <a:rPr lang="en-US" sz="3200"/>
              <a:t>Result analysis</a:t>
            </a:r>
          </a:p>
          <a:p>
            <a:pPr marL="285750" indent="-285750">
              <a:buFont typeface="Wingdings" panose="05000000000000000000" pitchFamily="2" charset="2"/>
              <a:buChar char="Ø"/>
            </a:pPr>
            <a:r>
              <a:rPr lang="en-US" sz="3200"/>
              <a:t>Advantages &amp; applications</a:t>
            </a:r>
          </a:p>
          <a:p>
            <a:pPr marL="285750" indent="-285750">
              <a:buFont typeface="Wingdings" panose="05000000000000000000" pitchFamily="2" charset="2"/>
              <a:buChar char="Ø"/>
            </a:pPr>
            <a:r>
              <a:rPr lang="en-US" sz="3200"/>
              <a:t>Conclusion</a:t>
            </a:r>
          </a:p>
          <a:p>
            <a:pPr marL="285750" indent="-285750">
              <a:buFont typeface="Wingdings" panose="05000000000000000000" pitchFamily="2" charset="2"/>
              <a:buChar char="Ø"/>
            </a:pPr>
            <a:r>
              <a:rPr lang="en-US" sz="3200"/>
              <a:t>Feature scope</a:t>
            </a:r>
          </a:p>
          <a:p>
            <a:pPr marL="285750" indent="-285750">
              <a:buFont typeface="Wingdings" panose="05000000000000000000" pitchFamily="2" charset="2"/>
              <a:buChar char="Ø"/>
            </a:pPr>
            <a:r>
              <a:rPr lang="en-US" sz="3200"/>
              <a:t>References</a:t>
            </a:r>
          </a:p>
          <a:p>
            <a:pPr marL="285750" indent="-285750">
              <a:buFont typeface="Wingdings" panose="05000000000000000000" pitchFamily="2" charset="2"/>
              <a:buChar char="Ø"/>
            </a:pPr>
            <a:endParaRPr lang="en-US"/>
          </a:p>
          <a:p>
            <a:endParaRPr lang="en-IN"/>
          </a:p>
        </p:txBody>
      </p:sp>
    </p:spTree>
    <p:extLst>
      <p:ext uri="{BB962C8B-B14F-4D97-AF65-F5344CB8AC3E}">
        <p14:creationId xmlns:p14="http://schemas.microsoft.com/office/powerpoint/2010/main" val="2209278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CA50B-D2EC-CC4A-68C8-967A8689E47C}"/>
              </a:ext>
            </a:extLst>
          </p:cNvPr>
          <p:cNvSpPr>
            <a:spLocks noGrp="1"/>
          </p:cNvSpPr>
          <p:nvPr>
            <p:ph type="title"/>
          </p:nvPr>
        </p:nvSpPr>
        <p:spPr>
          <a:xfrm>
            <a:off x="986607" y="570107"/>
            <a:ext cx="10515600" cy="1325563"/>
          </a:xfrm>
        </p:spPr>
        <p:txBody>
          <a:bodyPr>
            <a:normAutofit/>
          </a:bodyPr>
          <a:lstStyle/>
          <a:p>
            <a:r>
              <a:rPr lang="en-US" sz="4800" b="1">
                <a:solidFill>
                  <a:schemeClr val="accent1">
                    <a:lumMod val="50000"/>
                  </a:schemeClr>
                </a:solidFill>
              </a:rPr>
              <a:t>Abstract</a:t>
            </a:r>
            <a:endParaRPr lang="en-IN" sz="4800" b="1">
              <a:solidFill>
                <a:schemeClr val="accent1">
                  <a:lumMod val="50000"/>
                </a:schemeClr>
              </a:solidFill>
            </a:endParaRPr>
          </a:p>
        </p:txBody>
      </p:sp>
      <p:sp>
        <p:nvSpPr>
          <p:cNvPr id="3" name="Content Placeholder 2">
            <a:extLst>
              <a:ext uri="{FF2B5EF4-FFF2-40B4-BE49-F238E27FC236}">
                <a16:creationId xmlns:a16="http://schemas.microsoft.com/office/drawing/2014/main" id="{D010BF61-6341-FBF8-398B-CCEDCB66BB40}"/>
              </a:ext>
            </a:extLst>
          </p:cNvPr>
          <p:cNvSpPr>
            <a:spLocks noGrp="1"/>
          </p:cNvSpPr>
          <p:nvPr>
            <p:ph idx="1"/>
          </p:nvPr>
        </p:nvSpPr>
        <p:spPr>
          <a:xfrm>
            <a:off x="986607" y="1895670"/>
            <a:ext cx="10888689" cy="4962330"/>
          </a:xfrm>
        </p:spPr>
        <p:txBody>
          <a:bodyPr vert="horz" lIns="91440" tIns="45720" rIns="91440" bIns="45720" rtlCol="0" anchor="t">
            <a:normAutofit/>
          </a:bodyPr>
          <a:lstStyle/>
          <a:p>
            <a:pPr marL="0" indent="0" algn="just">
              <a:buNone/>
            </a:pPr>
            <a:r>
              <a:rPr lang="en-IN"/>
              <a:t>Our project is developed to </a:t>
            </a:r>
            <a:r>
              <a:rPr lang="en-IN" err="1"/>
              <a:t>analyze</a:t>
            </a:r>
            <a:r>
              <a:rPr lang="en-IN"/>
              <a:t> the relationship between e-commerce shipment delivery and customer satisfaction. It focuses on studying shipment data to understand delivery trends, identify delay patterns, and evaluate their impact on customer reviews and satisfaction. The platform allows users to explore key features such as delivery time, tracking accuracy, communication effectiveness, and product quality through user input, data </a:t>
            </a:r>
            <a:r>
              <a:rPr lang="en-IN" err="1"/>
              <a:t>visualization.The</a:t>
            </a:r>
            <a:r>
              <a:rPr lang="en-IN"/>
              <a:t> system also provides recommendations to improve delivery efficiency, enhance user experience, and reduce return rates. It serves as a practical tool for understanding and improving the online shopping delivery process.</a:t>
            </a:r>
            <a:endParaRPr lang="en-US">
              <a:ea typeface="Calibri" panose="020F0502020204030204"/>
              <a:cs typeface="Calibri" panose="020F0502020204030204"/>
            </a:endParaRPr>
          </a:p>
        </p:txBody>
      </p:sp>
    </p:spTree>
    <p:extLst>
      <p:ext uri="{BB962C8B-B14F-4D97-AF65-F5344CB8AC3E}">
        <p14:creationId xmlns:p14="http://schemas.microsoft.com/office/powerpoint/2010/main" val="1236503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437E2-EB4B-3326-4553-BD5C4B0EE90F}"/>
              </a:ext>
            </a:extLst>
          </p:cNvPr>
          <p:cNvSpPr>
            <a:spLocks noGrp="1"/>
          </p:cNvSpPr>
          <p:nvPr>
            <p:ph type="title"/>
          </p:nvPr>
        </p:nvSpPr>
        <p:spPr>
          <a:xfrm>
            <a:off x="838200" y="383460"/>
            <a:ext cx="10515600" cy="1150374"/>
          </a:xfrm>
        </p:spPr>
        <p:txBody>
          <a:bodyPr>
            <a:normAutofit/>
          </a:bodyPr>
          <a:lstStyle/>
          <a:p>
            <a:r>
              <a:rPr lang="en-US" sz="5000" b="1">
                <a:solidFill>
                  <a:schemeClr val="accent1">
                    <a:lumMod val="50000"/>
                  </a:schemeClr>
                </a:solidFill>
              </a:rPr>
              <a:t>Introduction</a:t>
            </a:r>
            <a:endParaRPr lang="en-IN" sz="5000" b="1">
              <a:solidFill>
                <a:schemeClr val="accent1">
                  <a:lumMod val="50000"/>
                </a:schemeClr>
              </a:solidFill>
            </a:endParaRPr>
          </a:p>
        </p:txBody>
      </p:sp>
      <p:sp>
        <p:nvSpPr>
          <p:cNvPr id="3" name="Content Placeholder 2">
            <a:extLst>
              <a:ext uri="{FF2B5EF4-FFF2-40B4-BE49-F238E27FC236}">
                <a16:creationId xmlns:a16="http://schemas.microsoft.com/office/drawing/2014/main" id="{7C0B317F-6D7D-51D3-C6C7-41598FE60B7D}"/>
              </a:ext>
            </a:extLst>
          </p:cNvPr>
          <p:cNvSpPr>
            <a:spLocks noGrp="1"/>
          </p:cNvSpPr>
          <p:nvPr>
            <p:ph idx="1"/>
          </p:nvPr>
        </p:nvSpPr>
        <p:spPr>
          <a:xfrm>
            <a:off x="838200" y="1622324"/>
            <a:ext cx="10515600" cy="5525728"/>
          </a:xfrm>
        </p:spPr>
        <p:txBody>
          <a:bodyPr vert="horz" lIns="91440" tIns="45720" rIns="91440" bIns="45720" rtlCol="0" anchor="t">
            <a:normAutofit/>
          </a:bodyPr>
          <a:lstStyle/>
          <a:p>
            <a:pPr algn="just"/>
            <a:r>
              <a:rPr lang="en-US" i="1"/>
              <a:t>In last few years E-</a:t>
            </a:r>
            <a:r>
              <a:rPr lang="en-US" i="1" err="1"/>
              <a:t>commerces</a:t>
            </a:r>
            <a:r>
              <a:rPr lang="en-US" i="1"/>
              <a:t> services growing continuously especially after the COVID-19 pandemic the e-</a:t>
            </a:r>
            <a:r>
              <a:rPr lang="en-US" i="1" err="1"/>
              <a:t>commerces</a:t>
            </a:r>
            <a:r>
              <a:rPr lang="en-US" i="1"/>
              <a:t> activitys </a:t>
            </a:r>
            <a:r>
              <a:rPr lang="en-IN" i="1"/>
              <a:t>has been growing rapidly</a:t>
            </a:r>
            <a:endParaRPr lang="en-IN" i="1">
              <a:ea typeface="Calibri"/>
              <a:cs typeface="Calibri"/>
            </a:endParaRPr>
          </a:p>
          <a:p>
            <a:pPr algn="just"/>
            <a:r>
              <a:rPr lang="en-IN" i="1"/>
              <a:t>To</a:t>
            </a:r>
            <a:r>
              <a:rPr lang="en-US" i="1"/>
              <a:t> keep up the competition we have to continuously improving quality of </a:t>
            </a:r>
            <a:r>
              <a:rPr lang="en-US" i="1" err="1"/>
              <a:t>service,efficient</a:t>
            </a:r>
            <a:r>
              <a:rPr lang="en-US" i="1"/>
              <a:t> &amp;reliable shipment delivery for customer satisfaction  </a:t>
            </a:r>
            <a:endParaRPr lang="en-US" i="1">
              <a:ea typeface="Calibri" panose="020F0502020204030204"/>
              <a:cs typeface="Calibri" panose="020F0502020204030204"/>
            </a:endParaRPr>
          </a:p>
          <a:p>
            <a:pPr algn="just"/>
            <a:r>
              <a:rPr lang="en-IN" i="1"/>
              <a:t>By addressing problems such as delayed </a:t>
            </a:r>
            <a:r>
              <a:rPr lang="en-IN" i="1" err="1"/>
              <a:t>shipments,insufficient</a:t>
            </a:r>
            <a:r>
              <a:rPr lang="en-IN" i="1"/>
              <a:t> routing etc… to solve such problems </a:t>
            </a:r>
            <a:r>
              <a:rPr lang="en-IN" i="1" err="1"/>
              <a:t>leveraing</a:t>
            </a:r>
            <a:r>
              <a:rPr lang="en-IN" i="1"/>
              <a:t> technology like location intelligence enables faster delivery times. </a:t>
            </a:r>
            <a:endParaRPr lang="en-IN" i="1">
              <a:ea typeface="Calibri"/>
              <a:cs typeface="Calibri"/>
            </a:endParaRPr>
          </a:p>
          <a:p>
            <a:r>
              <a:rPr lang="en-IN" i="1"/>
              <a:t>Also providing a greater transparency ,enhanced flexibility  and make  customer satisfied</a:t>
            </a:r>
            <a:endParaRPr lang="en-IN" i="1">
              <a:ea typeface="Calibri"/>
              <a:cs typeface="Calibri"/>
            </a:endParaRPr>
          </a:p>
        </p:txBody>
      </p:sp>
    </p:spTree>
    <p:extLst>
      <p:ext uri="{BB962C8B-B14F-4D97-AF65-F5344CB8AC3E}">
        <p14:creationId xmlns:p14="http://schemas.microsoft.com/office/powerpoint/2010/main" val="257912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3536A-322B-E906-04F8-EC5BA50E55AD}"/>
              </a:ext>
            </a:extLst>
          </p:cNvPr>
          <p:cNvSpPr>
            <a:spLocks noGrp="1"/>
          </p:cNvSpPr>
          <p:nvPr>
            <p:ph type="title"/>
          </p:nvPr>
        </p:nvSpPr>
        <p:spPr/>
        <p:txBody>
          <a:bodyPr/>
          <a:lstStyle/>
          <a:p>
            <a:r>
              <a:rPr lang="en-US">
                <a:solidFill>
                  <a:schemeClr val="accent1">
                    <a:lumMod val="50000"/>
                  </a:schemeClr>
                </a:solidFill>
                <a:latin typeface="Times New Roman" panose="02020603050405020304" pitchFamily="18" charset="0"/>
                <a:cs typeface="Times New Roman" panose="02020603050405020304" pitchFamily="18" charset="0"/>
              </a:rPr>
              <a:t>Motivation</a:t>
            </a:r>
            <a:r>
              <a:rPr lang="en-US">
                <a:latin typeface="Times New Roman" panose="02020603050405020304" pitchFamily="18" charset="0"/>
                <a:cs typeface="Times New Roman" panose="02020603050405020304" pitchFamily="18" charset="0"/>
              </a:rPr>
              <a:t> </a:t>
            </a:r>
            <a:endParaRPr lang="en-IN"/>
          </a:p>
        </p:txBody>
      </p:sp>
      <p:sp>
        <p:nvSpPr>
          <p:cNvPr id="3" name="Content Placeholder 2">
            <a:extLst>
              <a:ext uri="{FF2B5EF4-FFF2-40B4-BE49-F238E27FC236}">
                <a16:creationId xmlns:a16="http://schemas.microsoft.com/office/drawing/2014/main" id="{82CD2DAE-81EF-6D6B-6103-48F9FACC8692}"/>
              </a:ext>
            </a:extLst>
          </p:cNvPr>
          <p:cNvSpPr>
            <a:spLocks noGrp="1"/>
          </p:cNvSpPr>
          <p:nvPr>
            <p:ph idx="1"/>
          </p:nvPr>
        </p:nvSpPr>
        <p:spPr>
          <a:xfrm>
            <a:off x="838200" y="1612491"/>
            <a:ext cx="10515600" cy="4741453"/>
          </a:xfrm>
        </p:spPr>
        <p:txBody>
          <a:bodyPr vert="horz" lIns="91440" tIns="45720" rIns="91440" bIns="45720" rtlCol="0" anchor="t">
            <a:normAutofit/>
          </a:bodyPr>
          <a:lstStyle/>
          <a:p>
            <a:pPr algn="just"/>
            <a:r>
              <a:rPr lang="en-US" i="1"/>
              <a:t>The main motivation developing E-commerce shipment delivery and customer satisfaction is to enhance customer experience </a:t>
            </a:r>
          </a:p>
          <a:p>
            <a:pPr algn="just"/>
            <a:r>
              <a:rPr lang="en-US" i="1"/>
              <a:t>And understand how the shipment and delivery process influences customer </a:t>
            </a:r>
            <a:r>
              <a:rPr lang="en-US" i="1" err="1"/>
              <a:t>satisfication</a:t>
            </a:r>
            <a:r>
              <a:rPr lang="en-US" i="1"/>
              <a:t>. As online shopping becomes more common customer expectations on delivery such as </a:t>
            </a:r>
            <a:r>
              <a:rPr lang="en-US" i="1" err="1"/>
              <a:t>speed,accuracy,and</a:t>
            </a:r>
            <a:r>
              <a:rPr lang="en-US" i="1"/>
              <a:t> communication </a:t>
            </a:r>
            <a:endParaRPr lang="en-US" i="1">
              <a:ea typeface="Calibri"/>
              <a:cs typeface="Calibri"/>
            </a:endParaRPr>
          </a:p>
          <a:p>
            <a:pPr algn="just"/>
            <a:r>
              <a:rPr lang="en-US" i="1"/>
              <a:t>This application aims to explore these expectations and identify the gaps in current </a:t>
            </a:r>
            <a:r>
              <a:rPr lang="en-US" i="1" err="1"/>
              <a:t>delivery,suggests</a:t>
            </a:r>
            <a:r>
              <a:rPr lang="en-US" i="1"/>
              <a:t> strategies.</a:t>
            </a:r>
            <a:endParaRPr lang="en-US" i="1">
              <a:ea typeface="Calibri"/>
              <a:cs typeface="Calibri"/>
            </a:endParaRPr>
          </a:p>
          <a:p>
            <a:pPr marL="0" indent="0" algn="just">
              <a:buNone/>
            </a:pPr>
            <a:r>
              <a:rPr lang="en-US" i="1"/>
              <a:t>       that how online stores can improve their services to make customer more satisfied  and build long term </a:t>
            </a:r>
            <a:r>
              <a:rPr lang="en-US" i="1" err="1"/>
              <a:t>loyallity</a:t>
            </a:r>
            <a:r>
              <a:rPr lang="en-US" i="1"/>
              <a:t>   </a:t>
            </a:r>
            <a:endParaRPr lang="en-US" i="1">
              <a:ea typeface="Calibri"/>
              <a:cs typeface="Calibri"/>
            </a:endParaRPr>
          </a:p>
          <a:p>
            <a:endParaRPr lang="en-IN"/>
          </a:p>
        </p:txBody>
      </p:sp>
    </p:spTree>
    <p:extLst>
      <p:ext uri="{BB962C8B-B14F-4D97-AF65-F5344CB8AC3E}">
        <p14:creationId xmlns:p14="http://schemas.microsoft.com/office/powerpoint/2010/main" val="4211001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92D84-399B-8753-1585-D2993BA9D6E8}"/>
              </a:ext>
            </a:extLst>
          </p:cNvPr>
          <p:cNvSpPr>
            <a:spLocks noGrp="1"/>
          </p:cNvSpPr>
          <p:nvPr>
            <p:ph type="title"/>
          </p:nvPr>
        </p:nvSpPr>
        <p:spPr/>
        <p:txBody>
          <a:bodyPr/>
          <a:lstStyle/>
          <a:p>
            <a:r>
              <a:rPr lang="en-IN" b="1"/>
              <a:t> </a:t>
            </a:r>
            <a:r>
              <a:rPr lang="en-IN" b="1">
                <a:solidFill>
                  <a:schemeClr val="accent1">
                    <a:lumMod val="50000"/>
                  </a:schemeClr>
                </a:solidFill>
              </a:rPr>
              <a:t>Problem </a:t>
            </a:r>
            <a:r>
              <a:rPr lang="en-US" b="1">
                <a:solidFill>
                  <a:schemeClr val="accent1">
                    <a:lumMod val="50000"/>
                  </a:schemeClr>
                </a:solidFill>
              </a:rPr>
              <a:t>Definition</a:t>
            </a:r>
            <a:r>
              <a:rPr lang="en-IN" b="1">
                <a:solidFill>
                  <a:schemeClr val="accent1">
                    <a:lumMod val="50000"/>
                  </a:schemeClr>
                </a:solidFill>
              </a:rPr>
              <a:t> </a:t>
            </a:r>
            <a:endParaRPr lang="en-IN" b="1">
              <a:solidFill>
                <a:schemeClr val="accent1">
                  <a:lumMod val="50000"/>
                </a:schemeClr>
              </a:solidFill>
              <a:ea typeface="Calibri Light"/>
              <a:cs typeface="Calibri Light"/>
            </a:endParaRPr>
          </a:p>
        </p:txBody>
      </p:sp>
      <p:sp>
        <p:nvSpPr>
          <p:cNvPr id="3" name="Content Placeholder 2">
            <a:extLst>
              <a:ext uri="{FF2B5EF4-FFF2-40B4-BE49-F238E27FC236}">
                <a16:creationId xmlns:a16="http://schemas.microsoft.com/office/drawing/2014/main" id="{03447822-7D91-9C15-63A8-9DC4D90C5EDD}"/>
              </a:ext>
            </a:extLst>
          </p:cNvPr>
          <p:cNvSpPr>
            <a:spLocks noGrp="1"/>
          </p:cNvSpPr>
          <p:nvPr>
            <p:ph idx="1"/>
          </p:nvPr>
        </p:nvSpPr>
        <p:spPr/>
        <p:txBody>
          <a:bodyPr vert="horz" lIns="91440" tIns="45720" rIns="91440" bIns="45720" rtlCol="0" anchor="t">
            <a:normAutofit/>
          </a:bodyPr>
          <a:lstStyle/>
          <a:p>
            <a:pPr algn="just"/>
            <a:r>
              <a:rPr lang="en-IN" sz="3200">
                <a:ea typeface="+mn-lt"/>
                <a:cs typeface="+mn-lt"/>
              </a:rPr>
              <a:t>In the competitive landscape of e-commerce, customer satisfaction plays a vital role in the success and sustainability of online retailers. One of the most critical factors influencing customer satisfaction is the effectiveness of shipment delivery, which includes timely delivery, order accuracy, and condition upon arrival. Delays or issues in the delivery process often lead to negative customer experiences, affecting brand reputation and customer retention.</a:t>
            </a:r>
            <a:endParaRPr lang="en-IN" sz="3200">
              <a:ea typeface="Calibri"/>
              <a:cs typeface="Calibri"/>
            </a:endParaRPr>
          </a:p>
        </p:txBody>
      </p:sp>
    </p:spTree>
    <p:extLst>
      <p:ext uri="{BB962C8B-B14F-4D97-AF65-F5344CB8AC3E}">
        <p14:creationId xmlns:p14="http://schemas.microsoft.com/office/powerpoint/2010/main" val="328077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62618-0F13-CD53-10A3-EB0CD394D10F}"/>
              </a:ext>
            </a:extLst>
          </p:cNvPr>
          <p:cNvSpPr>
            <a:spLocks noGrp="1"/>
          </p:cNvSpPr>
          <p:nvPr>
            <p:ph type="title"/>
          </p:nvPr>
        </p:nvSpPr>
        <p:spPr>
          <a:xfrm>
            <a:off x="531437" y="159516"/>
            <a:ext cx="10242090" cy="991268"/>
          </a:xfrm>
        </p:spPr>
        <p:txBody>
          <a:bodyPr>
            <a:normAutofit/>
          </a:bodyPr>
          <a:lstStyle/>
          <a:p>
            <a:r>
              <a:rPr lang="en-IN" sz="4800" b="1">
                <a:solidFill>
                  <a:schemeClr val="accent1">
                    <a:lumMod val="50000"/>
                  </a:schemeClr>
                </a:solidFill>
              </a:rPr>
              <a:t>Literature Survey</a:t>
            </a:r>
          </a:p>
        </p:txBody>
      </p:sp>
      <p:graphicFrame>
        <p:nvGraphicFramePr>
          <p:cNvPr id="6" name="Content Placeholder 5">
            <a:extLst>
              <a:ext uri="{FF2B5EF4-FFF2-40B4-BE49-F238E27FC236}">
                <a16:creationId xmlns:a16="http://schemas.microsoft.com/office/drawing/2014/main" id="{7891731F-E36C-67E0-22CC-E63043E29D77}"/>
              </a:ext>
            </a:extLst>
          </p:cNvPr>
          <p:cNvGraphicFramePr>
            <a:graphicFrameLocks noGrp="1"/>
          </p:cNvGraphicFramePr>
          <p:nvPr>
            <p:ph idx="1"/>
            <p:extLst>
              <p:ext uri="{D42A27DB-BD31-4B8C-83A1-F6EECF244321}">
                <p14:modId xmlns:p14="http://schemas.microsoft.com/office/powerpoint/2010/main" val="662955523"/>
              </p:ext>
            </p:extLst>
          </p:nvPr>
        </p:nvGraphicFramePr>
        <p:xfrm>
          <a:off x="0" y="1055266"/>
          <a:ext cx="12192001" cy="5972820"/>
        </p:xfrm>
        <a:graphic>
          <a:graphicData uri="http://schemas.openxmlformats.org/drawingml/2006/table">
            <a:tbl>
              <a:tblPr firstRow="1" bandRow="1">
                <a:tableStyleId>{5C22544A-7EE6-4342-B048-85BDC9FD1C3A}</a:tableStyleId>
              </a:tblPr>
              <a:tblGrid>
                <a:gridCol w="2034709">
                  <a:extLst>
                    <a:ext uri="{9D8B030D-6E8A-4147-A177-3AD203B41FA5}">
                      <a16:colId xmlns:a16="http://schemas.microsoft.com/office/drawing/2014/main" val="1341701215"/>
                    </a:ext>
                  </a:extLst>
                </a:gridCol>
                <a:gridCol w="1851213">
                  <a:extLst>
                    <a:ext uri="{9D8B030D-6E8A-4147-A177-3AD203B41FA5}">
                      <a16:colId xmlns:a16="http://schemas.microsoft.com/office/drawing/2014/main" val="2640551692"/>
                    </a:ext>
                  </a:extLst>
                </a:gridCol>
                <a:gridCol w="2768693">
                  <a:extLst>
                    <a:ext uri="{9D8B030D-6E8A-4147-A177-3AD203B41FA5}">
                      <a16:colId xmlns:a16="http://schemas.microsoft.com/office/drawing/2014/main" val="95422223"/>
                    </a:ext>
                  </a:extLst>
                </a:gridCol>
                <a:gridCol w="2816763">
                  <a:extLst>
                    <a:ext uri="{9D8B030D-6E8A-4147-A177-3AD203B41FA5}">
                      <a16:colId xmlns:a16="http://schemas.microsoft.com/office/drawing/2014/main" val="400915580"/>
                    </a:ext>
                  </a:extLst>
                </a:gridCol>
                <a:gridCol w="2720623">
                  <a:extLst>
                    <a:ext uri="{9D8B030D-6E8A-4147-A177-3AD203B41FA5}">
                      <a16:colId xmlns:a16="http://schemas.microsoft.com/office/drawing/2014/main" val="4148392463"/>
                    </a:ext>
                  </a:extLst>
                </a:gridCol>
              </a:tblGrid>
              <a:tr h="1363959">
                <a:tc>
                  <a:txBody>
                    <a:bodyPr/>
                    <a:lstStyle/>
                    <a:p>
                      <a:r>
                        <a:rPr lang="en-IN" sz="3600"/>
                        <a:t>Author</a:t>
                      </a:r>
                      <a:r>
                        <a:rPr lang="en-IN"/>
                        <a:t> </a:t>
                      </a:r>
                      <a:endParaRPr lang="en-US"/>
                    </a:p>
                  </a:txBody>
                  <a:tcPr/>
                </a:tc>
                <a:tc>
                  <a:txBody>
                    <a:bodyPr/>
                    <a:lstStyle/>
                    <a:p>
                      <a:r>
                        <a:rPr lang="en-IN" sz="3600"/>
                        <a:t>Year</a:t>
                      </a:r>
                      <a:endParaRPr lang="en-US" sz="3600"/>
                    </a:p>
                  </a:txBody>
                  <a:tcPr/>
                </a:tc>
                <a:tc>
                  <a:txBody>
                    <a:bodyPr/>
                    <a:lstStyle/>
                    <a:p>
                      <a:r>
                        <a:rPr lang="en-IN" sz="3600"/>
                        <a:t>Existing</a:t>
                      </a:r>
                      <a:r>
                        <a:rPr lang="en-IN"/>
                        <a:t> </a:t>
                      </a:r>
                      <a:r>
                        <a:rPr lang="en-IN" sz="3600"/>
                        <a:t>system</a:t>
                      </a:r>
                      <a:r>
                        <a:rPr lang="en-IN"/>
                        <a:t> </a:t>
                      </a:r>
                      <a:endParaRPr lang="en-US"/>
                    </a:p>
                  </a:txBody>
                  <a:tcPr/>
                </a:tc>
                <a:tc>
                  <a:txBody>
                    <a:bodyPr/>
                    <a:lstStyle/>
                    <a:p>
                      <a:r>
                        <a:rPr lang="en-IN" sz="3600"/>
                        <a:t>Proposed system </a:t>
                      </a:r>
                      <a:endParaRPr lang="en-US" sz="3600"/>
                    </a:p>
                  </a:txBody>
                  <a:tcPr/>
                </a:tc>
                <a:tc>
                  <a:txBody>
                    <a:bodyPr/>
                    <a:lstStyle/>
                    <a:p>
                      <a:r>
                        <a:rPr lang="en-IN" sz="3600"/>
                        <a:t>Key</a:t>
                      </a:r>
                      <a:r>
                        <a:rPr lang="en-IN"/>
                        <a:t> </a:t>
                      </a:r>
                      <a:r>
                        <a:rPr lang="en-IN" sz="3600"/>
                        <a:t>takeaways</a:t>
                      </a:r>
                      <a:r>
                        <a:rPr lang="en-IN"/>
                        <a:t> </a:t>
                      </a:r>
                      <a:endParaRPr lang="en-US"/>
                    </a:p>
                  </a:txBody>
                  <a:tcPr/>
                </a:tc>
                <a:extLst>
                  <a:ext uri="{0D108BD9-81ED-4DB2-BD59-A6C34878D82A}">
                    <a16:rowId xmlns:a16="http://schemas.microsoft.com/office/drawing/2014/main" val="3020132877"/>
                  </a:ext>
                </a:extLst>
              </a:tr>
              <a:tr h="1660487">
                <a:tc>
                  <a:txBody>
                    <a:bodyPr/>
                    <a:lstStyle/>
                    <a:p>
                      <a:r>
                        <a:rPr lang="en-IN" err="1"/>
                        <a:t>Gupta.R</a:t>
                      </a:r>
                      <a:r>
                        <a:rPr lang="en-IN"/>
                        <a:t> ,</a:t>
                      </a:r>
                      <a:r>
                        <a:rPr lang="en-IN" err="1"/>
                        <a:t>Sharma.T</a:t>
                      </a:r>
                      <a:r>
                        <a:rPr lang="en-IN"/>
                        <a:t>, &amp; Mehta S</a:t>
                      </a:r>
                      <a:endParaRPr lang="en-US"/>
                    </a:p>
                  </a:txBody>
                  <a:tcPr/>
                </a:tc>
                <a:tc>
                  <a:txBody>
                    <a:bodyPr/>
                    <a:lstStyle/>
                    <a:p>
                      <a:r>
                        <a:rPr lang="en-IN"/>
                        <a:t>2023</a:t>
                      </a:r>
                      <a:endParaRPr lang="en-US"/>
                    </a:p>
                  </a:txBody>
                  <a:tcPr/>
                </a:tc>
                <a:tc>
                  <a:txBody>
                    <a:bodyPr/>
                    <a:lstStyle/>
                    <a:p>
                      <a:r>
                        <a:rPr lang="en-IN"/>
                        <a:t>Manual logistics operations with limited AI use; traditional routing algorithms</a:t>
                      </a:r>
                      <a:endParaRPr lang="en-US"/>
                    </a:p>
                  </a:txBody>
                  <a:tcPr/>
                </a:tc>
                <a:tc>
                  <a:txBody>
                    <a:bodyPr/>
                    <a:lstStyle/>
                    <a:p>
                      <a:r>
                        <a:rPr lang="en-IN"/>
                        <a:t>AI-driven logistics optimization using ML for predictive demand &amp; route planning</a:t>
                      </a:r>
                      <a:endParaRPr lang="en-US"/>
                    </a:p>
                  </a:txBody>
                  <a:tcPr/>
                </a:tc>
                <a:tc>
                  <a:txBody>
                    <a:bodyPr/>
                    <a:lstStyle/>
                    <a:p>
                      <a:r>
                        <a:rPr lang="en-IN"/>
                        <a:t>AI significantly enhances delivery scheduling, inventory management, and routing</a:t>
                      </a:r>
                      <a:endParaRPr lang="en-US"/>
                    </a:p>
                  </a:txBody>
                  <a:tcPr/>
                </a:tc>
                <a:extLst>
                  <a:ext uri="{0D108BD9-81ED-4DB2-BD59-A6C34878D82A}">
                    <a16:rowId xmlns:a16="http://schemas.microsoft.com/office/drawing/2014/main" val="2386529478"/>
                  </a:ext>
                </a:extLst>
              </a:tr>
              <a:tr h="1474187">
                <a:tc>
                  <a:txBody>
                    <a:bodyPr/>
                    <a:lstStyle/>
                    <a:p>
                      <a:r>
                        <a:rPr lang="en-IN"/>
                        <a:t>Aniket Pratap Singh, Pritam Das</a:t>
                      </a:r>
                      <a:endParaRPr lang="en-US"/>
                    </a:p>
                  </a:txBody>
                  <a:tcPr/>
                </a:tc>
                <a:tc>
                  <a:txBody>
                    <a:bodyPr/>
                    <a:lstStyle/>
                    <a:p>
                      <a:r>
                        <a:rPr lang="en-IN"/>
                        <a:t>2022</a:t>
                      </a:r>
                      <a:endParaRPr lang="en-US"/>
                    </a:p>
                  </a:txBody>
                  <a:tcPr/>
                </a:tc>
                <a:tc>
                  <a:txBody>
                    <a:bodyPr/>
                    <a:lstStyle/>
                    <a:p>
                      <a:r>
                        <a:rPr lang="en-IN"/>
                        <a:t>Rule-based and keyword-driven sentiment analysis</a:t>
                      </a:r>
                      <a:endParaRPr lang="en-US"/>
                    </a:p>
                  </a:txBody>
                  <a:tcPr/>
                </a:tc>
                <a:tc>
                  <a:txBody>
                    <a:bodyPr/>
                    <a:lstStyle/>
                    <a:p>
                      <a:r>
                        <a:rPr lang="en-IN"/>
                        <a:t>Deep learning and NLP-based sentiment mining from user reviews</a:t>
                      </a:r>
                      <a:endParaRPr lang="en-US"/>
                    </a:p>
                  </a:txBody>
                  <a:tcPr/>
                </a:tc>
                <a:tc>
                  <a:txBody>
                    <a:bodyPr/>
                    <a:lstStyle/>
                    <a:p>
                      <a:r>
                        <a:rPr lang="en-IN"/>
                        <a:t>Improved accuracy in detecting customer sentiment from reviews</a:t>
                      </a:r>
                      <a:endParaRPr lang="en-US"/>
                    </a:p>
                  </a:txBody>
                  <a:tcPr/>
                </a:tc>
                <a:extLst>
                  <a:ext uri="{0D108BD9-81ED-4DB2-BD59-A6C34878D82A}">
                    <a16:rowId xmlns:a16="http://schemas.microsoft.com/office/drawing/2014/main" val="3312147156"/>
                  </a:ext>
                </a:extLst>
              </a:tr>
              <a:tr h="1474187">
                <a:tc>
                  <a:txBody>
                    <a:bodyPr/>
                    <a:lstStyle/>
                    <a:p>
                      <a:r>
                        <a:rPr lang="en-IN"/>
                        <a:t>Liang Chen, Yuan Zhang, </a:t>
                      </a:r>
                      <a:r>
                        <a:rPr lang="en-IN" err="1"/>
                        <a:t>Hao</a:t>
                      </a:r>
                      <a:r>
                        <a:rPr lang="en-IN"/>
                        <a:t> Wu</a:t>
                      </a:r>
                      <a:endParaRPr lang="en-US"/>
                    </a:p>
                  </a:txBody>
                  <a:tcPr/>
                </a:tc>
                <a:tc>
                  <a:txBody>
                    <a:bodyPr/>
                    <a:lstStyle/>
                    <a:p>
                      <a:r>
                        <a:rPr lang="en-IN"/>
                        <a:t>2021</a:t>
                      </a:r>
                      <a:endParaRPr lang="en-US"/>
                    </a:p>
                  </a:txBody>
                  <a:tcPr/>
                </a:tc>
                <a:tc>
                  <a:txBody>
                    <a:bodyPr/>
                    <a:lstStyle/>
                    <a:p>
                      <a:r>
                        <a:rPr lang="en-IN"/>
                        <a:t>Post-delivery risk reporting using static historical data</a:t>
                      </a:r>
                      <a:endParaRPr lang="en-US"/>
                    </a:p>
                  </a:txBody>
                  <a:tcPr/>
                </a:tc>
                <a:tc>
                  <a:txBody>
                    <a:bodyPr/>
                    <a:lstStyle/>
                    <a:p>
                      <a:r>
                        <a:rPr lang="en-IN"/>
                        <a:t>Real-time AI-based risk assessment using live logistics data</a:t>
                      </a:r>
                      <a:endParaRPr lang="en-US"/>
                    </a:p>
                  </a:txBody>
                  <a:tcPr/>
                </a:tc>
                <a:tc>
                  <a:txBody>
                    <a:bodyPr/>
                    <a:lstStyle/>
                    <a:p>
                      <a:r>
                        <a:rPr lang="en-IN"/>
                        <a:t>Enables dynamic rerouting and reduces delivery delays using real-time data</a:t>
                      </a:r>
                      <a:endParaRPr lang="en-US"/>
                    </a:p>
                  </a:txBody>
                  <a:tcPr/>
                </a:tc>
                <a:extLst>
                  <a:ext uri="{0D108BD9-81ED-4DB2-BD59-A6C34878D82A}">
                    <a16:rowId xmlns:a16="http://schemas.microsoft.com/office/drawing/2014/main" val="2581048488"/>
                  </a:ext>
                </a:extLst>
              </a:tr>
            </a:tbl>
          </a:graphicData>
        </a:graphic>
      </p:graphicFrame>
    </p:spTree>
    <p:extLst>
      <p:ext uri="{BB962C8B-B14F-4D97-AF65-F5344CB8AC3E}">
        <p14:creationId xmlns:p14="http://schemas.microsoft.com/office/powerpoint/2010/main" val="3543655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AAAB1-0766-9A4F-7517-F116A19EA076}"/>
              </a:ext>
            </a:extLst>
          </p:cNvPr>
          <p:cNvSpPr>
            <a:spLocks noGrp="1"/>
          </p:cNvSpPr>
          <p:nvPr>
            <p:ph type="title"/>
          </p:nvPr>
        </p:nvSpPr>
        <p:spPr>
          <a:xfrm>
            <a:off x="838200" y="349733"/>
            <a:ext cx="10515600" cy="1325563"/>
          </a:xfrm>
        </p:spPr>
        <p:txBody>
          <a:bodyPr>
            <a:normAutofit/>
          </a:bodyPr>
          <a:lstStyle/>
          <a:p>
            <a:r>
              <a:rPr lang="en-US" sz="4800" b="1">
                <a:solidFill>
                  <a:schemeClr val="accent1">
                    <a:lumMod val="50000"/>
                  </a:schemeClr>
                </a:solidFill>
              </a:rPr>
              <a:t>Research Gaps</a:t>
            </a:r>
            <a:endParaRPr lang="en-IN" sz="4800" b="1">
              <a:solidFill>
                <a:schemeClr val="accent1">
                  <a:lumMod val="50000"/>
                </a:schemeClr>
              </a:solidFill>
            </a:endParaRPr>
          </a:p>
        </p:txBody>
      </p:sp>
      <p:sp>
        <p:nvSpPr>
          <p:cNvPr id="3" name="Content Placeholder 2">
            <a:extLst>
              <a:ext uri="{FF2B5EF4-FFF2-40B4-BE49-F238E27FC236}">
                <a16:creationId xmlns:a16="http://schemas.microsoft.com/office/drawing/2014/main" id="{F2B58B58-F8F6-378B-E40E-E667F26FF333}"/>
              </a:ext>
            </a:extLst>
          </p:cNvPr>
          <p:cNvSpPr>
            <a:spLocks noGrp="1"/>
          </p:cNvSpPr>
          <p:nvPr>
            <p:ph idx="1"/>
          </p:nvPr>
        </p:nvSpPr>
        <p:spPr>
          <a:xfrm>
            <a:off x="838199" y="1828309"/>
            <a:ext cx="11002864" cy="4846860"/>
          </a:xfrm>
        </p:spPr>
        <p:txBody>
          <a:bodyPr vert="horz" lIns="91440" tIns="45720" rIns="91440" bIns="45720" rtlCol="0" anchor="t">
            <a:normAutofit/>
          </a:bodyPr>
          <a:lstStyle/>
          <a:p>
            <a:pPr algn="just"/>
            <a:r>
              <a:rPr lang="en-IN" sz="3200" i="1"/>
              <a:t>Many systems use simple techniques to find unhappy customers. They don’t use powerful AI tools like deep learning, which can understand customer reviews and patterns better</a:t>
            </a:r>
            <a:endParaRPr lang="en-US"/>
          </a:p>
          <a:p>
            <a:r>
              <a:rPr lang="en-IN" sz="3200" i="1"/>
              <a:t>Most companies only take action after a customer complains. There is a need for smart systems that can guess when a customer might be unhappy and fix the issue before it becomes a problem</a:t>
            </a:r>
            <a:endParaRPr lang="en-IN" sz="3200" i="1">
              <a:ea typeface="Calibri"/>
              <a:cs typeface="Calibri"/>
            </a:endParaRPr>
          </a:p>
          <a:p>
            <a:r>
              <a:rPr lang="en-IN" sz="3200" i="1"/>
              <a:t>Many customers write reviews in their local languages. Most systems only read English reviews, so they miss out on important feedback from other users</a:t>
            </a:r>
            <a:endParaRPr lang="en-IN" sz="3200" i="1">
              <a:ea typeface="Calibri"/>
              <a:cs typeface="Calibri"/>
            </a:endParaRPr>
          </a:p>
        </p:txBody>
      </p:sp>
    </p:spTree>
    <p:extLst>
      <p:ext uri="{BB962C8B-B14F-4D97-AF65-F5344CB8AC3E}">
        <p14:creationId xmlns:p14="http://schemas.microsoft.com/office/powerpoint/2010/main" val="3165455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E1EE4-975B-976F-6F8F-FC57122C4C29}"/>
              </a:ext>
            </a:extLst>
          </p:cNvPr>
          <p:cNvSpPr>
            <a:spLocks noGrp="1"/>
          </p:cNvSpPr>
          <p:nvPr>
            <p:ph type="title"/>
          </p:nvPr>
        </p:nvSpPr>
        <p:spPr/>
        <p:txBody>
          <a:bodyPr>
            <a:normAutofit/>
          </a:bodyPr>
          <a:lstStyle/>
          <a:p>
            <a:r>
              <a:rPr lang="en-US" sz="4800" b="1">
                <a:solidFill>
                  <a:schemeClr val="accent1">
                    <a:lumMod val="50000"/>
                  </a:schemeClr>
                </a:solidFill>
              </a:rPr>
              <a:t>Proposed System</a:t>
            </a:r>
            <a:endParaRPr lang="en-IN" sz="4800" b="1">
              <a:solidFill>
                <a:schemeClr val="accent1">
                  <a:lumMod val="50000"/>
                </a:schemeClr>
              </a:solidFill>
            </a:endParaRPr>
          </a:p>
        </p:txBody>
      </p:sp>
      <p:sp>
        <p:nvSpPr>
          <p:cNvPr id="3" name="Content Placeholder 2">
            <a:extLst>
              <a:ext uri="{FF2B5EF4-FFF2-40B4-BE49-F238E27FC236}">
                <a16:creationId xmlns:a16="http://schemas.microsoft.com/office/drawing/2014/main" id="{CDF92074-9975-D702-E462-7EC0FAA3CCB2}"/>
              </a:ext>
            </a:extLst>
          </p:cNvPr>
          <p:cNvSpPr>
            <a:spLocks noGrp="1"/>
          </p:cNvSpPr>
          <p:nvPr>
            <p:ph idx="1"/>
          </p:nvPr>
        </p:nvSpPr>
        <p:spPr>
          <a:xfrm>
            <a:off x="838199" y="1690688"/>
            <a:ext cx="11186922" cy="4417390"/>
          </a:xfrm>
        </p:spPr>
        <p:txBody>
          <a:bodyPr vert="horz" lIns="91440" tIns="45720" rIns="91440" bIns="45720" rtlCol="0" anchor="t">
            <a:noAutofit/>
          </a:bodyPr>
          <a:lstStyle/>
          <a:p>
            <a:r>
              <a:rPr lang="en-IN" sz="3200" i="1"/>
              <a:t>The platform that designed to help customer by collecting and analyse data related to shipment delivery and customer satisfaction </a:t>
            </a:r>
          </a:p>
          <a:p>
            <a:r>
              <a:rPr lang="en-IN" sz="3200" i="1"/>
              <a:t>Tracks delivery times, compares them with expected dates, and highlights frequent problems</a:t>
            </a:r>
            <a:endParaRPr lang="en-IN" sz="3200" i="1">
              <a:ea typeface="Calibri"/>
              <a:cs typeface="Calibri"/>
            </a:endParaRPr>
          </a:p>
          <a:p>
            <a:r>
              <a:rPr lang="en-IN" sz="3200" i="1"/>
              <a:t>Provides suggestions to improve delivery services and enhance customer satisfaction based on real data</a:t>
            </a:r>
            <a:endParaRPr lang="en-IN" sz="3200" i="1">
              <a:ea typeface="Calibri"/>
              <a:cs typeface="Calibri"/>
            </a:endParaRPr>
          </a:p>
          <a:p>
            <a:r>
              <a:rPr lang="en-IN" sz="3200" i="1"/>
              <a:t>Allows customers to rate delivery experiences and report issues like delays or damaged products.</a:t>
            </a:r>
          </a:p>
        </p:txBody>
      </p:sp>
    </p:spTree>
    <p:extLst>
      <p:ext uri="{BB962C8B-B14F-4D97-AF65-F5344CB8AC3E}">
        <p14:creationId xmlns:p14="http://schemas.microsoft.com/office/powerpoint/2010/main" val="2683734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11A9-DA9C-AB71-0A3C-501A04C35262}"/>
              </a:ext>
            </a:extLst>
          </p:cNvPr>
          <p:cNvSpPr>
            <a:spLocks noGrp="1"/>
          </p:cNvSpPr>
          <p:nvPr>
            <p:ph type="title"/>
          </p:nvPr>
        </p:nvSpPr>
        <p:spPr/>
        <p:txBody>
          <a:bodyPr>
            <a:normAutofit/>
          </a:bodyPr>
          <a:lstStyle/>
          <a:p>
            <a:r>
              <a:rPr lang="en-US" sz="4800" b="1">
                <a:solidFill>
                  <a:schemeClr val="accent1">
                    <a:lumMod val="50000"/>
                  </a:schemeClr>
                </a:solidFill>
              </a:rPr>
              <a:t>Existing Methodology</a:t>
            </a:r>
            <a:endParaRPr lang="en-IN" sz="4800" b="1">
              <a:solidFill>
                <a:schemeClr val="accent1">
                  <a:lumMod val="50000"/>
                </a:schemeClr>
              </a:solidFill>
            </a:endParaRPr>
          </a:p>
        </p:txBody>
      </p:sp>
      <p:sp>
        <p:nvSpPr>
          <p:cNvPr id="3" name="Content Placeholder 2">
            <a:extLst>
              <a:ext uri="{FF2B5EF4-FFF2-40B4-BE49-F238E27FC236}">
                <a16:creationId xmlns:a16="http://schemas.microsoft.com/office/drawing/2014/main" id="{2D11EBB1-E397-2C0D-F6C7-88E5DD548DCC}"/>
              </a:ext>
            </a:extLst>
          </p:cNvPr>
          <p:cNvSpPr>
            <a:spLocks noGrp="1"/>
          </p:cNvSpPr>
          <p:nvPr>
            <p:ph idx="1"/>
          </p:nvPr>
        </p:nvSpPr>
        <p:spPr/>
        <p:txBody>
          <a:bodyPr/>
          <a:lstStyle/>
          <a:p>
            <a:r>
              <a:rPr lang="en-US"/>
              <a:t>The current approach focus on collecting data from shipment, delivery records and customer feedback after delivery. It mainly uses basic methods to look at things like how the packages arrive on time and how long delivery takes average .</a:t>
            </a:r>
          </a:p>
          <a:p>
            <a:r>
              <a:rPr lang="en-US"/>
              <a:t>Customer satisfaction is measured through surveys , giving some feedbacks into there </a:t>
            </a:r>
            <a:r>
              <a:rPr lang="en-US" err="1"/>
              <a:t>experience.while</a:t>
            </a:r>
            <a:r>
              <a:rPr lang="en-US"/>
              <a:t> this is work for tracking past performance , it does not provide  real time updates or help to predict the issue before that happen</a:t>
            </a:r>
          </a:p>
          <a:p>
            <a:r>
              <a:rPr lang="en-US"/>
              <a:t>Which may cause mis the chance  to improve delivery efficiency and customer service </a:t>
            </a:r>
            <a:endParaRPr lang="en-IN"/>
          </a:p>
        </p:txBody>
      </p:sp>
    </p:spTree>
    <p:extLst>
      <p:ext uri="{BB962C8B-B14F-4D97-AF65-F5344CB8AC3E}">
        <p14:creationId xmlns:p14="http://schemas.microsoft.com/office/powerpoint/2010/main" val="3779864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59583-CD87-5A4A-585A-0B3D1C29C545}"/>
              </a:ext>
            </a:extLst>
          </p:cNvPr>
          <p:cNvSpPr>
            <a:spLocks noGrp="1"/>
          </p:cNvSpPr>
          <p:nvPr>
            <p:ph type="title"/>
          </p:nvPr>
        </p:nvSpPr>
        <p:spPr/>
        <p:txBody>
          <a:bodyPr>
            <a:normAutofit/>
          </a:bodyPr>
          <a:lstStyle/>
          <a:p>
            <a:r>
              <a:rPr lang="en-IN" sz="4800" b="1">
                <a:solidFill>
                  <a:schemeClr val="accent1">
                    <a:lumMod val="50000"/>
                  </a:schemeClr>
                </a:solidFill>
              </a:rPr>
              <a:t>Drawbacks</a:t>
            </a:r>
          </a:p>
        </p:txBody>
      </p:sp>
      <p:sp>
        <p:nvSpPr>
          <p:cNvPr id="3" name="Content Placeholder 2">
            <a:extLst>
              <a:ext uri="{FF2B5EF4-FFF2-40B4-BE49-F238E27FC236}">
                <a16:creationId xmlns:a16="http://schemas.microsoft.com/office/drawing/2014/main" id="{D5D46D81-D409-D653-C151-17F3D15CCACB}"/>
              </a:ext>
            </a:extLst>
          </p:cNvPr>
          <p:cNvSpPr>
            <a:spLocks noGrp="1"/>
          </p:cNvSpPr>
          <p:nvPr>
            <p:ph idx="1"/>
          </p:nvPr>
        </p:nvSpPr>
        <p:spPr/>
        <p:txBody>
          <a:bodyPr/>
          <a:lstStyle/>
          <a:p>
            <a:r>
              <a:rPr lang="en-US"/>
              <a:t>The current system gives a normal idea of how deliveries are going but it comes with some  limitations. Since it mainly relies on past data also it struggles to predict or prevent future delays. Key factors like traffic, weather, or sudden changes in orders are not  included which reduces its accuracy</a:t>
            </a:r>
          </a:p>
          <a:p>
            <a:r>
              <a:rPr lang="en-US"/>
              <a:t> Customer feedback is mostly gathered through surveys but those are  have low response rates and  Without real-time tracking or smarter analytics, issues can go unnoticed until customers are already unhappy</a:t>
            </a:r>
            <a:endParaRPr lang="en-IN"/>
          </a:p>
        </p:txBody>
      </p:sp>
    </p:spTree>
    <p:extLst>
      <p:ext uri="{BB962C8B-B14F-4D97-AF65-F5344CB8AC3E}">
        <p14:creationId xmlns:p14="http://schemas.microsoft.com/office/powerpoint/2010/main" val="1362198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D94AD-4353-8F48-3E21-4A396AD255ED}"/>
              </a:ext>
            </a:extLst>
          </p:cNvPr>
          <p:cNvSpPr>
            <a:spLocks noGrp="1"/>
          </p:cNvSpPr>
          <p:nvPr>
            <p:ph type="title"/>
          </p:nvPr>
        </p:nvSpPr>
        <p:spPr/>
        <p:txBody>
          <a:bodyPr>
            <a:normAutofit/>
          </a:bodyPr>
          <a:lstStyle/>
          <a:p>
            <a:r>
              <a:rPr lang="en-IN" sz="4800" b="1">
                <a:solidFill>
                  <a:schemeClr val="accent1">
                    <a:lumMod val="50000"/>
                  </a:schemeClr>
                </a:solidFill>
              </a:rPr>
              <a:t>Proposed Methodology</a:t>
            </a:r>
          </a:p>
        </p:txBody>
      </p:sp>
      <p:sp>
        <p:nvSpPr>
          <p:cNvPr id="3" name="Content Placeholder 2">
            <a:extLst>
              <a:ext uri="{FF2B5EF4-FFF2-40B4-BE49-F238E27FC236}">
                <a16:creationId xmlns:a16="http://schemas.microsoft.com/office/drawing/2014/main" id="{B5660608-6D8A-17AC-8882-53D5C0B367BA}"/>
              </a:ext>
            </a:extLst>
          </p:cNvPr>
          <p:cNvSpPr>
            <a:spLocks noGrp="1"/>
          </p:cNvSpPr>
          <p:nvPr>
            <p:ph idx="1"/>
          </p:nvPr>
        </p:nvSpPr>
        <p:spPr/>
        <p:txBody>
          <a:bodyPr/>
          <a:lstStyle/>
          <a:p>
            <a:r>
              <a:rPr lang="en-US"/>
              <a:t>To improve delivery performance, the new approach focuses on using smart technology and real-time data. Machine learning helps predict possible delays by analyzing trends and external factors like traffic or weather. Shipments are tracked live using GPS and  constant or direction given by customer</a:t>
            </a:r>
          </a:p>
          <a:p>
            <a:r>
              <a:rPr lang="en-US"/>
              <a:t>Instead of waiting for survey responses customer feedback is quickly reviewed using sentiment analysis. All the  information is gathered together in a live dashboard that highlights issues as that happen. </a:t>
            </a:r>
          </a:p>
          <a:p>
            <a:r>
              <a:rPr lang="en-US"/>
              <a:t>The goal is to fix problems before they grow and give customers a smoother more reliable experience.</a:t>
            </a:r>
            <a:endParaRPr lang="en-IN"/>
          </a:p>
        </p:txBody>
      </p:sp>
    </p:spTree>
    <p:extLst>
      <p:ext uri="{BB962C8B-B14F-4D97-AF65-F5344CB8AC3E}">
        <p14:creationId xmlns:p14="http://schemas.microsoft.com/office/powerpoint/2010/main" val="2104098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5FA3-5D96-D9FF-5185-4CF1E92C437B}"/>
              </a:ext>
            </a:extLst>
          </p:cNvPr>
          <p:cNvSpPr>
            <a:spLocks noGrp="1"/>
          </p:cNvSpPr>
          <p:nvPr>
            <p:ph type="title"/>
          </p:nvPr>
        </p:nvSpPr>
        <p:spPr/>
        <p:txBody>
          <a:bodyPr>
            <a:normAutofit/>
          </a:bodyPr>
          <a:lstStyle/>
          <a:p>
            <a:r>
              <a:rPr lang="en-IN" sz="4800" b="1">
                <a:solidFill>
                  <a:schemeClr val="accent1">
                    <a:lumMod val="50000"/>
                  </a:schemeClr>
                </a:solidFill>
              </a:rPr>
              <a:t>Software Details</a:t>
            </a:r>
          </a:p>
        </p:txBody>
      </p:sp>
      <p:sp>
        <p:nvSpPr>
          <p:cNvPr id="3" name="Content Placeholder 2">
            <a:extLst>
              <a:ext uri="{FF2B5EF4-FFF2-40B4-BE49-F238E27FC236}">
                <a16:creationId xmlns:a16="http://schemas.microsoft.com/office/drawing/2014/main" id="{EB982AE9-1878-C072-22DA-8B4AEC82B95D}"/>
              </a:ext>
            </a:extLst>
          </p:cNvPr>
          <p:cNvSpPr>
            <a:spLocks noGrp="1"/>
          </p:cNvSpPr>
          <p:nvPr>
            <p:ph idx="1"/>
          </p:nvPr>
        </p:nvSpPr>
        <p:spPr>
          <a:xfrm>
            <a:off x="838200" y="1463040"/>
            <a:ext cx="11049000" cy="5394959"/>
          </a:xfrm>
        </p:spPr>
        <p:txBody>
          <a:bodyPr>
            <a:normAutofit/>
          </a:bodyPr>
          <a:lstStyle/>
          <a:p>
            <a:r>
              <a:rPr lang="en-US" b="1"/>
              <a:t>programming language:</a:t>
            </a:r>
            <a:r>
              <a:rPr lang="en-IN"/>
              <a:t> python</a:t>
            </a:r>
            <a:endParaRPr lang="en-IN" sz="2400"/>
          </a:p>
          <a:p>
            <a:r>
              <a:rPr lang="en-IN" b="1"/>
              <a:t>Libraries:</a:t>
            </a:r>
          </a:p>
          <a:p>
            <a:pPr marL="0" indent="0">
              <a:buNone/>
            </a:pPr>
            <a:r>
              <a:rPr lang="en-IN"/>
              <a:t>                  1. </a:t>
            </a:r>
            <a:r>
              <a:rPr lang="en-IN" b="1"/>
              <a:t>pandas : </a:t>
            </a:r>
            <a:r>
              <a:rPr lang="en-IN"/>
              <a:t>for data processing and manipulation</a:t>
            </a:r>
          </a:p>
          <a:p>
            <a:pPr marL="0" indent="0">
              <a:buNone/>
            </a:pPr>
            <a:r>
              <a:rPr lang="en-IN"/>
              <a:t>                   2.</a:t>
            </a:r>
            <a:r>
              <a:rPr lang="en-IN" b="1"/>
              <a:t> matplotlib/seaborn:</a:t>
            </a:r>
            <a:r>
              <a:rPr lang="en-US"/>
              <a:t> Visualization trends (e.g.., delivery       </a:t>
            </a:r>
          </a:p>
          <a:p>
            <a:pPr marL="0" indent="0">
              <a:buNone/>
            </a:pPr>
            <a:r>
              <a:rPr lang="en-US"/>
              <a:t>Delays , satisfaction scores)</a:t>
            </a:r>
            <a:endParaRPr lang="en-IN"/>
          </a:p>
          <a:p>
            <a:pPr marL="0" indent="0">
              <a:buNone/>
            </a:pPr>
            <a:r>
              <a:rPr lang="en-IN"/>
              <a:t>                    3.  </a:t>
            </a:r>
            <a:r>
              <a:rPr lang="en-IN" b="1"/>
              <a:t>scikit-learn :</a:t>
            </a:r>
            <a:r>
              <a:rPr lang="en-IN"/>
              <a:t> sentiment analysis , classification of feedback</a:t>
            </a:r>
            <a:endParaRPr lang="en-IN" b="1"/>
          </a:p>
          <a:p>
            <a:r>
              <a:rPr lang="en-IN" b="1" err="1"/>
              <a:t>jupyter</a:t>
            </a:r>
            <a:r>
              <a:rPr lang="en-IN" b="1"/>
              <a:t>: </a:t>
            </a:r>
            <a:r>
              <a:rPr lang="en-IN"/>
              <a:t>interactive data science environment</a:t>
            </a:r>
          </a:p>
        </p:txBody>
      </p:sp>
    </p:spTree>
    <p:extLst>
      <p:ext uri="{BB962C8B-B14F-4D97-AF65-F5344CB8AC3E}">
        <p14:creationId xmlns:p14="http://schemas.microsoft.com/office/powerpoint/2010/main" val="1381865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0FF01-354B-FDE2-1F86-1C4AE026D6C3}"/>
              </a:ext>
            </a:extLst>
          </p:cNvPr>
          <p:cNvSpPr>
            <a:spLocks noGrp="1"/>
          </p:cNvSpPr>
          <p:nvPr>
            <p:ph type="title"/>
          </p:nvPr>
        </p:nvSpPr>
        <p:spPr>
          <a:xfrm>
            <a:off x="838200" y="0"/>
            <a:ext cx="10515600" cy="1325563"/>
          </a:xfrm>
        </p:spPr>
        <p:txBody>
          <a:bodyPr/>
          <a:lstStyle/>
          <a:p>
            <a:r>
              <a:rPr lang="en-US" b="1">
                <a:solidFill>
                  <a:schemeClr val="accent1">
                    <a:lumMod val="50000"/>
                  </a:schemeClr>
                </a:solidFill>
              </a:rPr>
              <a:t>Detailed proposed methodology</a:t>
            </a:r>
            <a:endParaRPr lang="en-IN" b="1">
              <a:solidFill>
                <a:schemeClr val="accent1">
                  <a:lumMod val="50000"/>
                </a:schemeClr>
              </a:solidFill>
            </a:endParaRPr>
          </a:p>
        </p:txBody>
      </p:sp>
      <p:sp>
        <p:nvSpPr>
          <p:cNvPr id="3" name="Content Placeholder 2">
            <a:extLst>
              <a:ext uri="{FF2B5EF4-FFF2-40B4-BE49-F238E27FC236}">
                <a16:creationId xmlns:a16="http://schemas.microsoft.com/office/drawing/2014/main" id="{68234094-C9B0-5FD3-BEBE-759EB95ACA09}"/>
              </a:ext>
            </a:extLst>
          </p:cNvPr>
          <p:cNvSpPr>
            <a:spLocks noGrp="1"/>
          </p:cNvSpPr>
          <p:nvPr>
            <p:ph idx="1"/>
          </p:nvPr>
        </p:nvSpPr>
        <p:spPr>
          <a:xfrm>
            <a:off x="701040" y="1310640"/>
            <a:ext cx="11323320" cy="5349240"/>
          </a:xfrm>
        </p:spPr>
        <p:txBody>
          <a:bodyPr>
            <a:normAutofit/>
          </a:bodyPr>
          <a:lstStyle/>
          <a:p>
            <a:r>
              <a:rPr lang="en-US"/>
              <a:t>Define clear goals and key metrics  Like one time delivery and  customer satisfaction scores</a:t>
            </a:r>
          </a:p>
          <a:p>
            <a:r>
              <a:rPr lang="en-US"/>
              <a:t>Collect data from orders tracking and customer service and then analyze this data to find shipping issues and customer pain points</a:t>
            </a:r>
          </a:p>
          <a:p>
            <a:pPr marL="0" indent="0">
              <a:buNone/>
            </a:pPr>
            <a:r>
              <a:rPr lang="en-IN"/>
              <a:t>  </a:t>
            </a:r>
            <a:r>
              <a:rPr lang="en-IN" b="1" u="sng"/>
              <a:t>DL/ML </a:t>
            </a:r>
            <a:r>
              <a:rPr lang="en-US" b="1" u="sng"/>
              <a:t>Algorithms: </a:t>
            </a:r>
          </a:p>
          <a:p>
            <a:pPr marL="0" indent="0">
              <a:buNone/>
            </a:pPr>
            <a:r>
              <a:rPr lang="en-US" b="1"/>
              <a:t>  1.Random forest: </a:t>
            </a:r>
            <a:r>
              <a:rPr lang="en-US"/>
              <a:t>Builds many decision trees to predict outcome.</a:t>
            </a:r>
          </a:p>
          <a:p>
            <a:pPr marL="0" indent="0">
              <a:buNone/>
            </a:pPr>
            <a:r>
              <a:rPr lang="en-US"/>
              <a:t>            great for predicting delivery times or classifying customer</a:t>
            </a:r>
          </a:p>
          <a:p>
            <a:pPr marL="0" indent="0">
              <a:buNone/>
            </a:pPr>
            <a:r>
              <a:rPr lang="en-US"/>
              <a:t>            satisfaction</a:t>
            </a:r>
          </a:p>
          <a:p>
            <a:pPr marL="0" indent="0">
              <a:buNone/>
            </a:pPr>
            <a:r>
              <a:rPr lang="en-IN"/>
              <a:t>   </a:t>
            </a:r>
            <a:r>
              <a:rPr lang="en-IN" b="1"/>
              <a:t>2.LSTM Network: </a:t>
            </a:r>
            <a:r>
              <a:rPr lang="en-US"/>
              <a:t>A type of natural network excelling with sequence data</a:t>
            </a:r>
          </a:p>
          <a:p>
            <a:pPr marL="0" indent="0">
              <a:buNone/>
            </a:pPr>
            <a:r>
              <a:rPr lang="en-US"/>
              <a:t>             perfect for forecasting dynamic delivery times And analyzing  </a:t>
            </a:r>
          </a:p>
          <a:p>
            <a:pPr marL="0" indent="0">
              <a:buNone/>
            </a:pPr>
            <a:r>
              <a:rPr lang="en-US"/>
              <a:t>             customer satisfaction from feedbacks</a:t>
            </a:r>
            <a:endParaRPr lang="en-IN" b="1"/>
          </a:p>
        </p:txBody>
      </p:sp>
    </p:spTree>
    <p:extLst>
      <p:ext uri="{BB962C8B-B14F-4D97-AF65-F5344CB8AC3E}">
        <p14:creationId xmlns:p14="http://schemas.microsoft.com/office/powerpoint/2010/main" val="2080362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694E8-8E10-4117-E2D4-75D69018C5DF}"/>
              </a:ext>
            </a:extLst>
          </p:cNvPr>
          <p:cNvSpPr>
            <a:spLocks noGrp="1"/>
          </p:cNvSpPr>
          <p:nvPr>
            <p:ph type="title"/>
          </p:nvPr>
        </p:nvSpPr>
        <p:spPr/>
        <p:txBody>
          <a:bodyPr/>
          <a:lstStyle/>
          <a:p>
            <a:r>
              <a:rPr lang="en-US" b="1">
                <a:solidFill>
                  <a:schemeClr val="accent1">
                    <a:lumMod val="50000"/>
                  </a:schemeClr>
                </a:solidFill>
              </a:rPr>
              <a:t>Sample code</a:t>
            </a:r>
            <a:endParaRPr lang="en-IN" b="1">
              <a:solidFill>
                <a:schemeClr val="accent1">
                  <a:lumMod val="50000"/>
                </a:schemeClr>
              </a:solidFill>
            </a:endParaRPr>
          </a:p>
        </p:txBody>
      </p:sp>
      <p:sp>
        <p:nvSpPr>
          <p:cNvPr id="3" name="Content Placeholder 2">
            <a:extLst>
              <a:ext uri="{FF2B5EF4-FFF2-40B4-BE49-F238E27FC236}">
                <a16:creationId xmlns:a16="http://schemas.microsoft.com/office/drawing/2014/main" id="{8F58A6FD-F832-F925-822D-8FCD3A32ACC3}"/>
              </a:ext>
            </a:extLst>
          </p:cNvPr>
          <p:cNvSpPr>
            <a:spLocks noGrp="1"/>
          </p:cNvSpPr>
          <p:nvPr>
            <p:ph idx="1"/>
          </p:nvPr>
        </p:nvSpPr>
        <p:spPr>
          <a:xfrm>
            <a:off x="838200" y="1494947"/>
            <a:ext cx="6259903" cy="5372129"/>
          </a:xfrm>
        </p:spPr>
        <p:txBody>
          <a:bodyPr vert="horz" lIns="91440" tIns="45720" rIns="91440" bIns="45720" rtlCol="0" anchor="t">
            <a:normAutofit/>
          </a:bodyPr>
          <a:lstStyle/>
          <a:p>
            <a:pPr marL="0" indent="0" algn="just">
              <a:buNone/>
            </a:pPr>
            <a:r>
              <a:rPr lang="en-IN"/>
              <a:t>import</a:t>
            </a:r>
            <a:r>
              <a:rPr lang="en-IN">
                <a:ea typeface="+mn-lt"/>
                <a:cs typeface="+mn-lt"/>
              </a:rPr>
              <a:t> pandas as pd</a:t>
            </a:r>
            <a:endParaRPr lang="en-US">
              <a:ea typeface="+mn-lt"/>
              <a:cs typeface="+mn-lt"/>
            </a:endParaRPr>
          </a:p>
          <a:p>
            <a:pPr algn="just">
              <a:buNone/>
            </a:pPr>
            <a:r>
              <a:rPr lang="en-IN">
                <a:ea typeface="+mn-lt"/>
                <a:cs typeface="+mn-lt"/>
              </a:rPr>
              <a:t>import </a:t>
            </a:r>
            <a:r>
              <a:rPr lang="en-IN" err="1">
                <a:ea typeface="+mn-lt"/>
                <a:cs typeface="+mn-lt"/>
              </a:rPr>
              <a:t>matplotlib.pyplot</a:t>
            </a:r>
            <a:r>
              <a:rPr lang="en-IN">
                <a:ea typeface="+mn-lt"/>
                <a:cs typeface="+mn-lt"/>
              </a:rPr>
              <a:t> as </a:t>
            </a:r>
            <a:r>
              <a:rPr lang="en-IN" err="1">
                <a:ea typeface="+mn-lt"/>
                <a:cs typeface="+mn-lt"/>
              </a:rPr>
              <a:t>plt</a:t>
            </a:r>
            <a:endParaRPr lang="en-IN">
              <a:ea typeface="+mn-lt"/>
              <a:cs typeface="+mn-lt"/>
            </a:endParaRPr>
          </a:p>
          <a:p>
            <a:pPr algn="just">
              <a:buNone/>
            </a:pPr>
            <a:r>
              <a:rPr lang="en-IN">
                <a:ea typeface="+mn-lt"/>
                <a:cs typeface="+mn-lt"/>
              </a:rPr>
              <a:t>import seaborn as </a:t>
            </a:r>
            <a:r>
              <a:rPr lang="en-IN" err="1">
                <a:ea typeface="+mn-lt"/>
                <a:cs typeface="+mn-lt"/>
              </a:rPr>
              <a:t>sns</a:t>
            </a:r>
            <a:endParaRPr lang="en-IN" err="1"/>
          </a:p>
          <a:p>
            <a:pPr algn="just">
              <a:buNone/>
            </a:pPr>
            <a:r>
              <a:rPr lang="en-IN">
                <a:ea typeface="+mn-lt"/>
                <a:cs typeface="+mn-lt"/>
              </a:rPr>
              <a:t>import </a:t>
            </a:r>
            <a:r>
              <a:rPr lang="en-IN" err="1">
                <a:ea typeface="+mn-lt"/>
                <a:cs typeface="+mn-lt"/>
              </a:rPr>
              <a:t>plotly.express</a:t>
            </a:r>
            <a:r>
              <a:rPr lang="en-IN">
                <a:ea typeface="+mn-lt"/>
                <a:cs typeface="+mn-lt"/>
              </a:rPr>
              <a:t> as </a:t>
            </a:r>
            <a:r>
              <a:rPr lang="en-IN" err="1">
                <a:ea typeface="+mn-lt"/>
                <a:cs typeface="+mn-lt"/>
              </a:rPr>
              <a:t>px</a:t>
            </a:r>
            <a:endParaRPr lang="en-IN" err="1"/>
          </a:p>
          <a:p>
            <a:pPr algn="just">
              <a:buNone/>
            </a:pPr>
            <a:r>
              <a:rPr lang="en-IN">
                <a:ea typeface="+mn-lt"/>
                <a:cs typeface="+mn-lt"/>
              </a:rPr>
              <a:t>import </a:t>
            </a:r>
            <a:r>
              <a:rPr lang="en-IN" err="1">
                <a:ea typeface="+mn-lt"/>
                <a:cs typeface="+mn-lt"/>
              </a:rPr>
              <a:t>plotly.graph_objects</a:t>
            </a:r>
            <a:r>
              <a:rPr lang="en-IN">
                <a:ea typeface="+mn-lt"/>
                <a:cs typeface="+mn-lt"/>
              </a:rPr>
              <a:t> as go</a:t>
            </a:r>
            <a:endParaRPr lang="en-IN"/>
          </a:p>
          <a:p>
            <a:pPr algn="just">
              <a:buNone/>
            </a:pPr>
            <a:r>
              <a:rPr lang="en-IN">
                <a:ea typeface="+mn-lt"/>
                <a:cs typeface="+mn-lt"/>
              </a:rPr>
              <a:t>from </a:t>
            </a:r>
            <a:r>
              <a:rPr lang="en-IN" err="1">
                <a:ea typeface="+mn-lt"/>
                <a:cs typeface="+mn-lt"/>
              </a:rPr>
              <a:t>sklearn.decomposition</a:t>
            </a:r>
            <a:r>
              <a:rPr lang="en-IN">
                <a:ea typeface="+mn-lt"/>
                <a:cs typeface="+mn-lt"/>
              </a:rPr>
              <a:t> import PCA</a:t>
            </a:r>
            <a:endParaRPr lang="en-IN"/>
          </a:p>
          <a:p>
            <a:pPr algn="just">
              <a:buNone/>
            </a:pPr>
            <a:r>
              <a:rPr lang="en-IN">
                <a:ea typeface="+mn-lt"/>
                <a:cs typeface="+mn-lt"/>
              </a:rPr>
              <a:t>from </a:t>
            </a:r>
            <a:r>
              <a:rPr lang="en-IN" err="1">
                <a:ea typeface="+mn-lt"/>
                <a:cs typeface="+mn-lt"/>
              </a:rPr>
              <a:t>sklearn.cluster</a:t>
            </a:r>
            <a:r>
              <a:rPr lang="en-IN">
                <a:ea typeface="+mn-lt"/>
                <a:cs typeface="+mn-lt"/>
              </a:rPr>
              <a:t> import </a:t>
            </a:r>
            <a:r>
              <a:rPr lang="en-IN" err="1">
                <a:ea typeface="+mn-lt"/>
                <a:cs typeface="+mn-lt"/>
              </a:rPr>
              <a:t>KMeans</a:t>
            </a:r>
            <a:endParaRPr lang="en-IN" err="1"/>
          </a:p>
          <a:p>
            <a:pPr algn="just">
              <a:buNone/>
            </a:pPr>
            <a:r>
              <a:rPr lang="en-IN">
                <a:ea typeface="+mn-lt"/>
                <a:cs typeface="+mn-lt"/>
              </a:rPr>
              <a:t>from </a:t>
            </a:r>
            <a:r>
              <a:rPr lang="en-IN" err="1">
                <a:ea typeface="+mn-lt"/>
                <a:cs typeface="+mn-lt"/>
              </a:rPr>
              <a:t>sklearn.preprocessing</a:t>
            </a:r>
            <a:endParaRPr lang="en-IN">
              <a:ea typeface="+mn-lt"/>
              <a:cs typeface="+mn-lt"/>
            </a:endParaRPr>
          </a:p>
          <a:p>
            <a:pPr algn="just">
              <a:buNone/>
            </a:pPr>
            <a:endParaRPr lang="en-IN">
              <a:ea typeface="+mn-lt"/>
              <a:cs typeface="+mn-lt"/>
            </a:endParaRPr>
          </a:p>
          <a:p>
            <a:pPr marL="0" indent="0">
              <a:buNone/>
            </a:pPr>
            <a:endParaRPr lang="en-IN">
              <a:ea typeface="Calibri" panose="020F0502020204030204"/>
              <a:cs typeface="Calibri" panose="020F0502020204030204"/>
            </a:endParaRPr>
          </a:p>
          <a:p>
            <a:pPr algn="just">
              <a:buNone/>
            </a:pPr>
            <a:endParaRPr lang="en-IN">
              <a:ea typeface="+mn-lt"/>
              <a:cs typeface="+mn-lt"/>
            </a:endParaRPr>
          </a:p>
        </p:txBody>
      </p:sp>
    </p:spTree>
    <p:extLst>
      <p:ext uri="{BB962C8B-B14F-4D97-AF65-F5344CB8AC3E}">
        <p14:creationId xmlns:p14="http://schemas.microsoft.com/office/powerpoint/2010/main" val="3528278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E0E7A1-707F-F658-DA8E-72E10B226D16}"/>
              </a:ext>
            </a:extLst>
          </p:cNvPr>
          <p:cNvSpPr>
            <a:spLocks noGrp="1"/>
          </p:cNvSpPr>
          <p:nvPr>
            <p:ph idx="1"/>
          </p:nvPr>
        </p:nvSpPr>
        <p:spPr>
          <a:xfrm>
            <a:off x="780691" y="704192"/>
            <a:ext cx="10573109" cy="5472771"/>
          </a:xfrm>
        </p:spPr>
        <p:txBody>
          <a:bodyPr vert="horz" lIns="91440" tIns="45720" rIns="91440" bIns="45720" rtlCol="0" anchor="t">
            <a:normAutofit lnSpcReduction="10000"/>
          </a:bodyPr>
          <a:lstStyle/>
          <a:p>
            <a:pPr marL="0" indent="0" algn="just">
              <a:buNone/>
            </a:pPr>
            <a:r>
              <a:rPr lang="en-IN">
                <a:ea typeface="Calibri" panose="020F0502020204030204"/>
                <a:cs typeface="Calibri" panose="020F0502020204030204"/>
              </a:rPr>
              <a:t> import </a:t>
            </a:r>
            <a:r>
              <a:rPr lang="en-IN" err="1">
                <a:ea typeface="Calibri" panose="020F0502020204030204"/>
                <a:cs typeface="Calibri" panose="020F0502020204030204"/>
              </a:rPr>
              <a:t>StandardScaler</a:t>
            </a:r>
            <a:endParaRPr lang="en-US" err="1"/>
          </a:p>
          <a:p>
            <a:pPr marL="0" indent="0" algn="just">
              <a:buNone/>
            </a:pPr>
            <a:r>
              <a:rPr lang="en-IN">
                <a:ea typeface="Calibri" panose="020F0502020204030204"/>
                <a:cs typeface="Calibri" panose="020F0502020204030204"/>
              </a:rPr>
              <a:t>path = r"A2train_schedule.csv"</a:t>
            </a:r>
          </a:p>
          <a:p>
            <a:pPr marL="0" indent="0" algn="just">
              <a:buNone/>
            </a:pPr>
            <a:r>
              <a:rPr lang="en-IN" err="1">
                <a:ea typeface="Calibri" panose="020F0502020204030204"/>
                <a:cs typeface="Calibri" panose="020F0502020204030204"/>
              </a:rPr>
              <a:t>df</a:t>
            </a:r>
            <a:r>
              <a:rPr lang="en-IN">
                <a:ea typeface="Calibri" panose="020F0502020204030204"/>
                <a:cs typeface="Calibri" panose="020F0502020204030204"/>
              </a:rPr>
              <a:t> = </a:t>
            </a:r>
            <a:r>
              <a:rPr lang="en-IN" err="1">
                <a:ea typeface="Calibri" panose="020F0502020204030204"/>
                <a:cs typeface="Calibri" panose="020F0502020204030204"/>
              </a:rPr>
              <a:t>pd.read_csv</a:t>
            </a:r>
            <a:r>
              <a:rPr lang="en-IN">
                <a:ea typeface="Calibri" panose="020F0502020204030204"/>
                <a:cs typeface="Calibri" panose="020F0502020204030204"/>
              </a:rPr>
              <a:t>(path)</a:t>
            </a:r>
            <a:endParaRPr lang="en-US">
              <a:ea typeface="Calibri" panose="020F0502020204030204"/>
              <a:cs typeface="Calibri" panose="020F0502020204030204"/>
            </a:endParaRPr>
          </a:p>
          <a:p>
            <a:pPr marL="0" indent="0" algn="just">
              <a:buNone/>
            </a:pPr>
            <a:endParaRPr lang="en-IN">
              <a:ea typeface="Calibri"/>
              <a:cs typeface="Calibri"/>
            </a:endParaRPr>
          </a:p>
          <a:p>
            <a:pPr marL="0" indent="0">
              <a:buNone/>
            </a:pPr>
            <a:r>
              <a:rPr lang="en-IN">
                <a:ea typeface="Calibri"/>
                <a:cs typeface="Calibri"/>
              </a:rPr>
              <a:t># Columns of interest</a:t>
            </a:r>
            <a:endParaRPr lang="en-US">
              <a:ea typeface="Calibri"/>
              <a:cs typeface="Calibri"/>
            </a:endParaRPr>
          </a:p>
          <a:p>
            <a:pPr marL="0" indent="0">
              <a:buNone/>
            </a:pPr>
            <a:r>
              <a:rPr lang="en-IN">
                <a:ea typeface="Calibri"/>
                <a:cs typeface="Calibri"/>
              </a:rPr>
              <a:t>cols = ["1A", "2A", "3A", "SL", "Distance"]</a:t>
            </a:r>
            <a:endParaRPr lang="en-US">
              <a:ea typeface="Calibri"/>
              <a:cs typeface="Calibri"/>
            </a:endParaRPr>
          </a:p>
          <a:p>
            <a:pPr marL="0" indent="0">
              <a:buNone/>
            </a:pPr>
            <a:r>
              <a:rPr lang="en-IN">
                <a:ea typeface="Calibri"/>
                <a:cs typeface="Calibri"/>
              </a:rPr>
              <a:t># Compute Min, Max, Mean for each column</a:t>
            </a:r>
            <a:endParaRPr lang="en-US">
              <a:ea typeface="Calibri"/>
              <a:cs typeface="Calibri"/>
            </a:endParaRPr>
          </a:p>
          <a:p>
            <a:pPr marL="0" indent="0">
              <a:buNone/>
            </a:pPr>
            <a:r>
              <a:rPr lang="en-IN">
                <a:ea typeface="Calibri"/>
                <a:cs typeface="Calibri"/>
              </a:rPr>
              <a:t>for col in cols:</a:t>
            </a:r>
            <a:endParaRPr lang="en-US">
              <a:ea typeface="Calibri"/>
              <a:cs typeface="Calibri"/>
            </a:endParaRPr>
          </a:p>
          <a:p>
            <a:pPr marL="0" indent="0">
              <a:buNone/>
            </a:pPr>
            <a:r>
              <a:rPr lang="en-IN">
                <a:ea typeface="Calibri"/>
                <a:cs typeface="Calibri"/>
              </a:rPr>
              <a:t>    </a:t>
            </a:r>
            <a:r>
              <a:rPr lang="en-IN" err="1">
                <a:ea typeface="Calibri"/>
                <a:cs typeface="Calibri"/>
              </a:rPr>
              <a:t>df</a:t>
            </a:r>
            <a:r>
              <a:rPr lang="en-IN">
                <a:ea typeface="Calibri"/>
                <a:cs typeface="Calibri"/>
              </a:rPr>
              <a:t>[f"{col}_Min"] = </a:t>
            </a:r>
            <a:r>
              <a:rPr lang="en-IN" err="1">
                <a:ea typeface="Calibri"/>
                <a:cs typeface="Calibri"/>
              </a:rPr>
              <a:t>df</a:t>
            </a:r>
            <a:r>
              <a:rPr lang="en-IN">
                <a:ea typeface="Calibri"/>
                <a:cs typeface="Calibri"/>
              </a:rPr>
              <a:t>[col].min()</a:t>
            </a:r>
            <a:endParaRPr lang="en-US">
              <a:ea typeface="Calibri"/>
              <a:cs typeface="Calibri"/>
            </a:endParaRPr>
          </a:p>
          <a:p>
            <a:pPr marL="0" indent="0">
              <a:buNone/>
            </a:pPr>
            <a:r>
              <a:rPr lang="en-IN">
                <a:ea typeface="Calibri"/>
                <a:cs typeface="Calibri"/>
              </a:rPr>
              <a:t>    </a:t>
            </a:r>
            <a:r>
              <a:rPr lang="en-IN" err="1">
                <a:ea typeface="Calibri"/>
                <a:cs typeface="Calibri"/>
              </a:rPr>
              <a:t>df</a:t>
            </a:r>
            <a:r>
              <a:rPr lang="en-IN">
                <a:ea typeface="Calibri"/>
                <a:cs typeface="Calibri"/>
              </a:rPr>
              <a:t>[f"{col}_Max"] = </a:t>
            </a:r>
            <a:r>
              <a:rPr lang="en-IN" err="1">
                <a:ea typeface="Calibri"/>
                <a:cs typeface="Calibri"/>
              </a:rPr>
              <a:t>df</a:t>
            </a:r>
            <a:r>
              <a:rPr lang="en-IN">
                <a:ea typeface="Calibri"/>
                <a:cs typeface="Calibri"/>
              </a:rPr>
              <a:t>[col].max()</a:t>
            </a:r>
            <a:endParaRPr lang="en-US">
              <a:ea typeface="Calibri"/>
              <a:cs typeface="Calibri"/>
            </a:endParaRPr>
          </a:p>
          <a:p>
            <a:pPr marL="0" indent="0">
              <a:buNone/>
            </a:pPr>
            <a:r>
              <a:rPr lang="en-IN">
                <a:ea typeface="Calibri"/>
                <a:cs typeface="Calibri"/>
              </a:rPr>
              <a:t>    </a:t>
            </a:r>
            <a:r>
              <a:rPr lang="en-IN" err="1">
                <a:ea typeface="Calibri"/>
                <a:cs typeface="Calibri"/>
              </a:rPr>
              <a:t>df</a:t>
            </a:r>
            <a:r>
              <a:rPr lang="en-IN">
                <a:ea typeface="Calibri"/>
                <a:cs typeface="Calibri"/>
              </a:rPr>
              <a:t>[f"{col}_Mean"] = </a:t>
            </a:r>
            <a:r>
              <a:rPr lang="en-IN" err="1">
                <a:ea typeface="Calibri"/>
                <a:cs typeface="Calibri"/>
              </a:rPr>
              <a:t>df</a:t>
            </a:r>
            <a:r>
              <a:rPr lang="en-IN">
                <a:ea typeface="Calibri"/>
                <a:cs typeface="Calibri"/>
              </a:rPr>
              <a:t>[col].mean()</a:t>
            </a:r>
            <a:endParaRPr lang="en-US">
              <a:ea typeface="Calibri" panose="020F0502020204030204"/>
              <a:cs typeface="Calibri" panose="020F0502020204030204"/>
            </a:endParaRPr>
          </a:p>
        </p:txBody>
      </p:sp>
    </p:spTree>
    <p:extLst>
      <p:ext uri="{BB962C8B-B14F-4D97-AF65-F5344CB8AC3E}">
        <p14:creationId xmlns:p14="http://schemas.microsoft.com/office/powerpoint/2010/main" val="2626401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D124E-4EAB-1C7F-37F2-53CB9EF5768B}"/>
              </a:ext>
            </a:extLst>
          </p:cNvPr>
          <p:cNvSpPr>
            <a:spLocks noGrp="1"/>
          </p:cNvSpPr>
          <p:nvPr>
            <p:ph type="title"/>
          </p:nvPr>
        </p:nvSpPr>
        <p:spPr/>
        <p:txBody>
          <a:bodyPr/>
          <a:lstStyle/>
          <a:p>
            <a:r>
              <a:rPr lang="en-US" b="1">
                <a:solidFill>
                  <a:schemeClr val="accent1">
                    <a:lumMod val="50000"/>
                  </a:schemeClr>
                </a:solidFill>
              </a:rPr>
              <a:t>Packages used</a:t>
            </a:r>
            <a:endParaRPr lang="en-IN" b="1">
              <a:solidFill>
                <a:schemeClr val="accent1">
                  <a:lumMod val="50000"/>
                </a:schemeClr>
              </a:solidFill>
            </a:endParaRPr>
          </a:p>
        </p:txBody>
      </p:sp>
      <p:sp>
        <p:nvSpPr>
          <p:cNvPr id="9" name="Content Placeholder 8">
            <a:extLst>
              <a:ext uri="{FF2B5EF4-FFF2-40B4-BE49-F238E27FC236}">
                <a16:creationId xmlns:a16="http://schemas.microsoft.com/office/drawing/2014/main" id="{CCB26E76-8812-2053-97E5-4E0E069056C7}"/>
              </a:ext>
            </a:extLst>
          </p:cNvPr>
          <p:cNvSpPr>
            <a:spLocks noGrp="1"/>
          </p:cNvSpPr>
          <p:nvPr>
            <p:ph idx="1"/>
          </p:nvPr>
        </p:nvSpPr>
        <p:spPr/>
        <p:txBody>
          <a:bodyPr/>
          <a:lstStyle/>
          <a:p>
            <a:r>
              <a:rPr lang="en-US" sz="3200" b="1"/>
              <a:t>Pandas: </a:t>
            </a:r>
            <a:r>
              <a:rPr lang="en-US"/>
              <a:t>Used for data manipulation and analyzing primarily with </a:t>
            </a:r>
            <a:r>
              <a:rPr lang="en-US" err="1"/>
              <a:t>Dataframes</a:t>
            </a:r>
            <a:r>
              <a:rPr lang="en-US"/>
              <a:t> like (</a:t>
            </a:r>
            <a:r>
              <a:rPr lang="en-US" err="1"/>
              <a:t>pd.read</a:t>
            </a:r>
            <a:r>
              <a:rPr lang="en-US"/>
              <a:t>-csv, </a:t>
            </a:r>
            <a:r>
              <a:rPr lang="en-US" err="1"/>
              <a:t>pd.info</a:t>
            </a:r>
            <a:r>
              <a:rPr lang="en-US"/>
              <a:t>() ).</a:t>
            </a:r>
            <a:endParaRPr lang="en-US" sz="3200" b="1"/>
          </a:p>
          <a:p>
            <a:r>
              <a:rPr lang="en-US" sz="3200" b="1" err="1"/>
              <a:t>Matplotlib</a:t>
            </a:r>
            <a:r>
              <a:rPr lang="en-US" sz="3200" b="1"/>
              <a:t>: </a:t>
            </a:r>
            <a:r>
              <a:rPr lang="en-US"/>
              <a:t>Used for creating static interactive and animated visualizations in Python ,especially </a:t>
            </a:r>
            <a:r>
              <a:rPr lang="en-US" err="1"/>
              <a:t>plt.hist</a:t>
            </a:r>
            <a:r>
              <a:rPr lang="en-US"/>
              <a:t>(), </a:t>
            </a:r>
            <a:r>
              <a:rPr lang="en-US" err="1"/>
              <a:t>plt.show</a:t>
            </a:r>
            <a:r>
              <a:rPr lang="en-US"/>
              <a:t>(), </a:t>
            </a:r>
            <a:r>
              <a:rPr lang="en-US" err="1"/>
              <a:t>plt.lable</a:t>
            </a:r>
            <a:r>
              <a:rPr lang="en-US"/>
              <a:t>().</a:t>
            </a:r>
          </a:p>
          <a:p>
            <a:r>
              <a:rPr lang="en-US" sz="3200" b="1" err="1"/>
              <a:t>Numpy</a:t>
            </a:r>
            <a:r>
              <a:rPr lang="en-US" sz="3200" b="1"/>
              <a:t>: </a:t>
            </a:r>
            <a:r>
              <a:rPr lang="en-US"/>
              <a:t>Used for numerical operations especially for generating numerical data efficiently (</a:t>
            </a:r>
            <a:r>
              <a:rPr lang="en-US" err="1"/>
              <a:t>eg</a:t>
            </a:r>
            <a:r>
              <a:rPr lang="en-US"/>
              <a:t>., </a:t>
            </a:r>
            <a:r>
              <a:rPr lang="en-US" err="1"/>
              <a:t>np.random.choice</a:t>
            </a:r>
            <a:r>
              <a:rPr lang="en-US"/>
              <a:t>).</a:t>
            </a:r>
          </a:p>
          <a:p>
            <a:r>
              <a:rPr lang="en-US" sz="3200" b="1" err="1"/>
              <a:t>Seaborn</a:t>
            </a:r>
            <a:r>
              <a:rPr lang="en-US" sz="3200" b="1"/>
              <a:t>: </a:t>
            </a:r>
            <a:r>
              <a:rPr lang="en-US"/>
              <a:t>A data visualization library based on </a:t>
            </a:r>
            <a:r>
              <a:rPr lang="en-US" err="1"/>
              <a:t>matplotlib</a:t>
            </a:r>
            <a:r>
              <a:rPr lang="en-US"/>
              <a:t> provide a high level interface for drawing attractive and informative statistical drops (</a:t>
            </a:r>
            <a:r>
              <a:rPr lang="en-US" err="1"/>
              <a:t>eg</a:t>
            </a:r>
            <a:r>
              <a:rPr lang="en-US"/>
              <a:t>., </a:t>
            </a:r>
            <a:r>
              <a:rPr lang="en-US" err="1"/>
              <a:t>sns.histplot</a:t>
            </a:r>
            <a:r>
              <a:rPr lang="en-US"/>
              <a:t>, </a:t>
            </a:r>
            <a:r>
              <a:rPr lang="en-US" err="1"/>
              <a:t>sns.boxplot</a:t>
            </a:r>
            <a:r>
              <a:rPr lang="en-US"/>
              <a:t>)</a:t>
            </a:r>
            <a:endParaRPr lang="en-US" sz="3200" b="1"/>
          </a:p>
          <a:p>
            <a:endParaRPr lang="en-IN" b="1"/>
          </a:p>
        </p:txBody>
      </p:sp>
    </p:spTree>
    <p:extLst>
      <p:ext uri="{BB962C8B-B14F-4D97-AF65-F5344CB8AC3E}">
        <p14:creationId xmlns:p14="http://schemas.microsoft.com/office/powerpoint/2010/main" val="1686346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9443-0DB3-3AEE-64D6-4A8934DBDD80}"/>
              </a:ext>
            </a:extLst>
          </p:cNvPr>
          <p:cNvSpPr>
            <a:spLocks noGrp="1"/>
          </p:cNvSpPr>
          <p:nvPr>
            <p:ph type="title"/>
          </p:nvPr>
        </p:nvSpPr>
        <p:spPr/>
        <p:txBody>
          <a:bodyPr/>
          <a:lstStyle/>
          <a:p>
            <a:r>
              <a:rPr lang="en-US" b="1">
                <a:solidFill>
                  <a:schemeClr val="accent1">
                    <a:lumMod val="50000"/>
                  </a:schemeClr>
                </a:solidFill>
              </a:rPr>
              <a:t>Result analysis </a:t>
            </a:r>
            <a:endParaRPr lang="en-IN" b="1">
              <a:solidFill>
                <a:schemeClr val="accent1">
                  <a:lumMod val="50000"/>
                </a:schemeClr>
              </a:solidFill>
            </a:endParaRPr>
          </a:p>
        </p:txBody>
      </p:sp>
      <p:pic>
        <p:nvPicPr>
          <p:cNvPr id="4" name="Content Placeholder 3" descr="A screenshot of a computer&#10;&#10;AI-generated content may be incorrect.">
            <a:extLst>
              <a:ext uri="{FF2B5EF4-FFF2-40B4-BE49-F238E27FC236}">
                <a16:creationId xmlns:a16="http://schemas.microsoft.com/office/drawing/2014/main" id="{30C07103-D960-4CA3-7485-2AD6D9E15594}"/>
              </a:ext>
            </a:extLst>
          </p:cNvPr>
          <p:cNvPicPr>
            <a:picLocks noGrp="1" noChangeAspect="1"/>
          </p:cNvPicPr>
          <p:nvPr>
            <p:ph idx="1"/>
          </p:nvPr>
        </p:nvPicPr>
        <p:blipFill>
          <a:blip r:embed="rId2"/>
          <a:stretch>
            <a:fillRect/>
          </a:stretch>
        </p:blipFill>
        <p:spPr>
          <a:xfrm>
            <a:off x="1203960" y="1300015"/>
            <a:ext cx="8976360" cy="4956552"/>
          </a:xfrm>
          <a:prstGeom prst="rect">
            <a:avLst/>
          </a:prstGeom>
        </p:spPr>
      </p:pic>
      <p:sp>
        <p:nvSpPr>
          <p:cNvPr id="5" name="TextBox 4">
            <a:extLst>
              <a:ext uri="{FF2B5EF4-FFF2-40B4-BE49-F238E27FC236}">
                <a16:creationId xmlns:a16="http://schemas.microsoft.com/office/drawing/2014/main" id="{2CBA5F4A-DE1F-F92F-EDC8-118071BC65F1}"/>
              </a:ext>
            </a:extLst>
          </p:cNvPr>
          <p:cNvSpPr txBox="1"/>
          <p:nvPr/>
        </p:nvSpPr>
        <p:spPr>
          <a:xfrm>
            <a:off x="4610100" y="6200487"/>
            <a:ext cx="1714187" cy="584775"/>
          </a:xfrm>
          <a:prstGeom prst="rect">
            <a:avLst/>
          </a:prstGeom>
          <a:noFill/>
        </p:spPr>
        <p:txBody>
          <a:bodyPr wrap="none" rtlCol="0">
            <a:spAutoFit/>
          </a:bodyPr>
          <a:lstStyle/>
          <a:p>
            <a:r>
              <a:rPr lang="en-US" sz="3200"/>
              <a:t>Datasets </a:t>
            </a:r>
            <a:endParaRPr lang="en-IN"/>
          </a:p>
        </p:txBody>
      </p:sp>
    </p:spTree>
    <p:extLst>
      <p:ext uri="{BB962C8B-B14F-4D97-AF65-F5344CB8AC3E}">
        <p14:creationId xmlns:p14="http://schemas.microsoft.com/office/powerpoint/2010/main" val="2556210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graph with blue lines&#10;&#10;AI-generated content may be incorrect.">
            <a:extLst>
              <a:ext uri="{FF2B5EF4-FFF2-40B4-BE49-F238E27FC236}">
                <a16:creationId xmlns:a16="http://schemas.microsoft.com/office/drawing/2014/main" id="{685D0300-00C1-C6B0-10EC-AFF2DF72DB8F}"/>
              </a:ext>
            </a:extLst>
          </p:cNvPr>
          <p:cNvPicPr>
            <a:picLocks noGrp="1" noChangeAspect="1"/>
          </p:cNvPicPr>
          <p:nvPr>
            <p:ph idx="1"/>
          </p:nvPr>
        </p:nvPicPr>
        <p:blipFill>
          <a:blip r:embed="rId2" cstate="print"/>
          <a:stretch>
            <a:fillRect/>
          </a:stretch>
        </p:blipFill>
        <p:spPr>
          <a:xfrm>
            <a:off x="5651448" y="1430972"/>
            <a:ext cx="6540552" cy="3996055"/>
          </a:xfrm>
          <a:prstGeom prst="rect">
            <a:avLst/>
          </a:prstGeom>
        </p:spPr>
      </p:pic>
      <p:sp>
        <p:nvSpPr>
          <p:cNvPr id="6" name="TextBox 5">
            <a:extLst>
              <a:ext uri="{FF2B5EF4-FFF2-40B4-BE49-F238E27FC236}">
                <a16:creationId xmlns:a16="http://schemas.microsoft.com/office/drawing/2014/main" id="{F40261C5-1336-A72E-F299-2B6325DF3ACF}"/>
              </a:ext>
            </a:extLst>
          </p:cNvPr>
          <p:cNvSpPr txBox="1"/>
          <p:nvPr/>
        </p:nvSpPr>
        <p:spPr>
          <a:xfrm>
            <a:off x="533400" y="1843949"/>
            <a:ext cx="5334000" cy="3170099"/>
          </a:xfrm>
          <a:prstGeom prst="rect">
            <a:avLst/>
          </a:prstGeom>
          <a:noFill/>
        </p:spPr>
        <p:txBody>
          <a:bodyPr wrap="square" rtlCol="0">
            <a:spAutoFit/>
          </a:bodyPr>
          <a:lstStyle/>
          <a:p>
            <a:r>
              <a:rPr lang="en-IN" sz="2000"/>
              <a:t># Plotting histograms and KDE</a:t>
            </a:r>
          </a:p>
          <a:p>
            <a:r>
              <a:rPr lang="en-IN" sz="2000"/>
              <a:t>fig, axes = </a:t>
            </a:r>
            <a:r>
              <a:rPr lang="en-IN" sz="2000" err="1"/>
              <a:t>plt.subplots</a:t>
            </a:r>
            <a:r>
              <a:rPr lang="en-IN" sz="2000"/>
              <a:t>(3, 2, </a:t>
            </a:r>
            <a:r>
              <a:rPr lang="en-IN" sz="2000" err="1"/>
              <a:t>figsize</a:t>
            </a:r>
            <a:r>
              <a:rPr lang="en-IN" sz="2000"/>
              <a:t>=(15, 20))  </a:t>
            </a:r>
          </a:p>
          <a:p>
            <a:r>
              <a:rPr lang="en-IN" sz="2000"/>
              <a:t>columns = ["Distance", "1A", "2A", "3A", "SL"]</a:t>
            </a:r>
          </a:p>
          <a:p>
            <a:r>
              <a:rPr lang="en-IN" sz="2000"/>
              <a:t>for </a:t>
            </a:r>
            <a:r>
              <a:rPr lang="en-IN" sz="2000" err="1"/>
              <a:t>i</a:t>
            </a:r>
            <a:r>
              <a:rPr lang="en-IN" sz="2000"/>
              <a:t>, col in enumerate(columns):</a:t>
            </a:r>
          </a:p>
          <a:p>
            <a:r>
              <a:rPr lang="en-IN" sz="2000"/>
              <a:t>    </a:t>
            </a:r>
            <a:r>
              <a:rPr lang="en-IN" sz="2000" err="1"/>
              <a:t>sns.histplot</a:t>
            </a:r>
            <a:r>
              <a:rPr lang="en-IN" sz="2000"/>
              <a:t>(</a:t>
            </a:r>
            <a:r>
              <a:rPr lang="en-IN" sz="2000" err="1"/>
              <a:t>df</a:t>
            </a:r>
            <a:r>
              <a:rPr lang="en-IN" sz="2000"/>
              <a:t>[col], bins=30, </a:t>
            </a:r>
            <a:r>
              <a:rPr lang="en-IN" sz="2000" err="1"/>
              <a:t>kde</a:t>
            </a:r>
            <a:r>
              <a:rPr lang="en-IN" sz="2000"/>
              <a:t>=True, </a:t>
            </a:r>
            <a:r>
              <a:rPr lang="en-IN" sz="2000" err="1"/>
              <a:t>ax</a:t>
            </a:r>
            <a:r>
              <a:rPr lang="en-IN" sz="2000"/>
              <a:t>=axes[</a:t>
            </a:r>
            <a:r>
              <a:rPr lang="en-IN" sz="2000" err="1"/>
              <a:t>i</a:t>
            </a:r>
            <a:r>
              <a:rPr lang="en-IN" sz="2000"/>
              <a:t>//2, i%2])</a:t>
            </a:r>
          </a:p>
          <a:p>
            <a:r>
              <a:rPr lang="en-IN" sz="2000"/>
              <a:t>    axes[</a:t>
            </a:r>
            <a:r>
              <a:rPr lang="en-IN" sz="2000" err="1"/>
              <a:t>i</a:t>
            </a:r>
            <a:r>
              <a:rPr lang="en-IN" sz="2000"/>
              <a:t>//2, i%2].</a:t>
            </a:r>
            <a:r>
              <a:rPr lang="en-IN" sz="2000" err="1"/>
              <a:t>set_title</a:t>
            </a:r>
            <a:r>
              <a:rPr lang="en-IN" sz="2000"/>
              <a:t>(</a:t>
            </a:r>
            <a:r>
              <a:rPr lang="en-IN" sz="2000" err="1"/>
              <a:t>f"Distribution</a:t>
            </a:r>
            <a:r>
              <a:rPr lang="en-IN" sz="2000"/>
              <a:t> of {col}")</a:t>
            </a:r>
          </a:p>
          <a:p>
            <a:r>
              <a:rPr lang="en-IN" sz="2000" err="1"/>
              <a:t>plt.tight_layout</a:t>
            </a:r>
            <a:r>
              <a:rPr lang="en-IN" sz="2000"/>
              <a:t>()</a:t>
            </a:r>
          </a:p>
          <a:p>
            <a:r>
              <a:rPr lang="en-IN" sz="2000" err="1"/>
              <a:t>plt.show</a:t>
            </a:r>
            <a:r>
              <a:rPr lang="en-IN" sz="2000"/>
              <a:t>()</a:t>
            </a:r>
          </a:p>
          <a:p>
            <a:endParaRPr lang="en-IN" sz="2000"/>
          </a:p>
        </p:txBody>
      </p:sp>
      <p:sp>
        <p:nvSpPr>
          <p:cNvPr id="7" name="TextBox 6">
            <a:extLst>
              <a:ext uri="{FF2B5EF4-FFF2-40B4-BE49-F238E27FC236}">
                <a16:creationId xmlns:a16="http://schemas.microsoft.com/office/drawing/2014/main" id="{DA45423B-F32E-47DB-4677-67459292FA38}"/>
              </a:ext>
            </a:extLst>
          </p:cNvPr>
          <p:cNvSpPr txBox="1"/>
          <p:nvPr/>
        </p:nvSpPr>
        <p:spPr>
          <a:xfrm>
            <a:off x="914400" y="655320"/>
            <a:ext cx="2699778" cy="707886"/>
          </a:xfrm>
          <a:prstGeom prst="rect">
            <a:avLst/>
          </a:prstGeom>
          <a:noFill/>
        </p:spPr>
        <p:txBody>
          <a:bodyPr wrap="none" rtlCol="0">
            <a:spAutoFit/>
          </a:bodyPr>
          <a:lstStyle/>
          <a:p>
            <a:r>
              <a:rPr lang="en-US" sz="4000" b="1"/>
              <a:t>Model used</a:t>
            </a:r>
            <a:endParaRPr lang="en-IN" b="1"/>
          </a:p>
        </p:txBody>
      </p:sp>
    </p:spTree>
    <p:extLst>
      <p:ext uri="{BB962C8B-B14F-4D97-AF65-F5344CB8AC3E}">
        <p14:creationId xmlns:p14="http://schemas.microsoft.com/office/powerpoint/2010/main" val="648405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A6575-276B-518B-F698-EDE1F24828E7}"/>
              </a:ext>
            </a:extLst>
          </p:cNvPr>
          <p:cNvSpPr>
            <a:spLocks noGrp="1"/>
          </p:cNvSpPr>
          <p:nvPr>
            <p:ph type="title"/>
          </p:nvPr>
        </p:nvSpPr>
        <p:spPr/>
        <p:txBody>
          <a:bodyPr>
            <a:normAutofit/>
          </a:bodyPr>
          <a:lstStyle/>
          <a:p>
            <a:r>
              <a:rPr lang="en-IN" sz="4800" b="1">
                <a:solidFill>
                  <a:schemeClr val="accent1">
                    <a:lumMod val="50000"/>
                  </a:schemeClr>
                </a:solidFill>
              </a:rPr>
              <a:t>Advantages &amp; applications</a:t>
            </a:r>
            <a:endParaRPr lang="en-IN"/>
          </a:p>
        </p:txBody>
      </p:sp>
      <p:sp>
        <p:nvSpPr>
          <p:cNvPr id="3" name="Content Placeholder 2">
            <a:extLst>
              <a:ext uri="{FF2B5EF4-FFF2-40B4-BE49-F238E27FC236}">
                <a16:creationId xmlns:a16="http://schemas.microsoft.com/office/drawing/2014/main" id="{DFE11B5E-DB52-0B9B-D7AA-8D15FB767A09}"/>
              </a:ext>
            </a:extLst>
          </p:cNvPr>
          <p:cNvSpPr>
            <a:spLocks noGrp="1"/>
          </p:cNvSpPr>
          <p:nvPr>
            <p:ph idx="1"/>
          </p:nvPr>
        </p:nvSpPr>
        <p:spPr>
          <a:xfrm>
            <a:off x="838200" y="1825624"/>
            <a:ext cx="10622280" cy="4925695"/>
          </a:xfrm>
        </p:spPr>
        <p:txBody>
          <a:bodyPr vert="horz" lIns="91440" tIns="45720" rIns="91440" bIns="45720" rtlCol="0" anchor="t">
            <a:normAutofit fontScale="92500" lnSpcReduction="10000"/>
          </a:bodyPr>
          <a:lstStyle/>
          <a:p>
            <a:pPr marL="0" indent="0">
              <a:buNone/>
            </a:pPr>
            <a:r>
              <a:rPr lang="en-IN" b="1"/>
              <a:t>    </a:t>
            </a:r>
            <a:r>
              <a:rPr lang="en-IN" sz="3500" b="1"/>
              <a:t>Applications:</a:t>
            </a:r>
            <a:endParaRPr lang="en-IN" b="1"/>
          </a:p>
          <a:p>
            <a:r>
              <a:rPr lang="en-IN" b="1"/>
              <a:t>Logistics and Delivery Services: </a:t>
            </a:r>
          </a:p>
          <a:p>
            <a:pPr marL="0" indent="0">
              <a:buNone/>
            </a:pPr>
            <a:r>
              <a:rPr lang="en-IN"/>
              <a:t>   Companies like  Blue Dart, and Ekart can apply the findings to  improve delivery consistency and accurate</a:t>
            </a:r>
          </a:p>
          <a:p>
            <a:pPr marL="0" indent="0">
              <a:buNone/>
            </a:pPr>
            <a:r>
              <a:rPr lang="en-IN">
                <a:ea typeface="Calibri"/>
                <a:cs typeface="Calibri"/>
              </a:rPr>
              <a:t>     </a:t>
            </a:r>
            <a:r>
              <a:rPr lang="en-IN" sz="3500" b="1">
                <a:ea typeface="Calibri"/>
                <a:cs typeface="Calibri"/>
              </a:rPr>
              <a:t>Advantages:</a:t>
            </a:r>
            <a:endParaRPr lang="en-IN" b="1">
              <a:ea typeface="Calibri"/>
              <a:cs typeface="Calibri"/>
            </a:endParaRPr>
          </a:p>
          <a:p>
            <a:pPr algn="just"/>
            <a:r>
              <a:rPr lang="en-IN" b="1"/>
              <a:t>E-commerce Platforms: </a:t>
            </a:r>
            <a:r>
              <a:rPr lang="en-IN"/>
              <a:t>Amazon, Flipkart, and similar platforms can use it to how product  are delivered, and customer communication</a:t>
            </a:r>
            <a:endParaRPr lang="en-IN">
              <a:ea typeface="Calibri"/>
              <a:cs typeface="Calibri"/>
            </a:endParaRPr>
          </a:p>
          <a:p>
            <a:r>
              <a:rPr lang="en-IN"/>
              <a:t>Real-Time Tracking Insight</a:t>
            </a:r>
            <a:endParaRPr lang="en-IN">
              <a:ea typeface="Calibri"/>
              <a:cs typeface="Calibri"/>
            </a:endParaRPr>
          </a:p>
          <a:p>
            <a:r>
              <a:rPr lang="en-IN"/>
              <a:t>Optimized Delivery Process</a:t>
            </a:r>
            <a:endParaRPr lang="en-IN">
              <a:ea typeface="Calibri"/>
              <a:cs typeface="Calibri"/>
            </a:endParaRPr>
          </a:p>
          <a:p>
            <a:r>
              <a:rPr lang="en-IN"/>
              <a:t>Enhanced Customer Loyalty</a:t>
            </a:r>
            <a:endParaRPr lang="en-IN">
              <a:ea typeface="Calibri"/>
              <a:cs typeface="Calibri"/>
            </a:endParaRPr>
          </a:p>
          <a:p>
            <a:pPr algn="just"/>
            <a:r>
              <a:rPr lang="en-IN"/>
              <a:t>Reduced Return Rates</a:t>
            </a:r>
            <a:endParaRPr lang="en-IN">
              <a:ea typeface="Calibri"/>
              <a:cs typeface="Calibri"/>
            </a:endParaRPr>
          </a:p>
        </p:txBody>
      </p:sp>
    </p:spTree>
    <p:extLst>
      <p:ext uri="{BB962C8B-B14F-4D97-AF65-F5344CB8AC3E}">
        <p14:creationId xmlns:p14="http://schemas.microsoft.com/office/powerpoint/2010/main" val="3730019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3E60E-7592-9FA5-3019-6447B7C48BC1}"/>
              </a:ext>
            </a:extLst>
          </p:cNvPr>
          <p:cNvSpPr>
            <a:spLocks noGrp="1"/>
          </p:cNvSpPr>
          <p:nvPr>
            <p:ph type="title"/>
          </p:nvPr>
        </p:nvSpPr>
        <p:spPr/>
        <p:txBody>
          <a:bodyPr/>
          <a:lstStyle/>
          <a:p>
            <a:r>
              <a:rPr lang="en-US" b="1">
                <a:solidFill>
                  <a:schemeClr val="accent1">
                    <a:lumMod val="50000"/>
                  </a:schemeClr>
                </a:solidFill>
              </a:rPr>
              <a:t>Conclusion</a:t>
            </a:r>
            <a:endParaRPr lang="en-IN" b="1">
              <a:solidFill>
                <a:schemeClr val="accent1">
                  <a:lumMod val="50000"/>
                </a:schemeClr>
              </a:solidFill>
            </a:endParaRPr>
          </a:p>
        </p:txBody>
      </p:sp>
      <p:sp>
        <p:nvSpPr>
          <p:cNvPr id="3" name="Content Placeholder 2">
            <a:extLst>
              <a:ext uri="{FF2B5EF4-FFF2-40B4-BE49-F238E27FC236}">
                <a16:creationId xmlns:a16="http://schemas.microsoft.com/office/drawing/2014/main" id="{543D9CE7-7DE7-24F2-A731-23A9BB2C074C}"/>
              </a:ext>
            </a:extLst>
          </p:cNvPr>
          <p:cNvSpPr>
            <a:spLocks noGrp="1"/>
          </p:cNvSpPr>
          <p:nvPr>
            <p:ph idx="1"/>
          </p:nvPr>
        </p:nvSpPr>
        <p:spPr/>
        <p:txBody>
          <a:bodyPr>
            <a:normAutofit/>
          </a:bodyPr>
          <a:lstStyle/>
          <a:p>
            <a:r>
              <a:rPr lang="en-US"/>
              <a:t>These projects are successfully demonstrate how data analytics can uncover critical factories affecting customer satisfaction</a:t>
            </a:r>
          </a:p>
          <a:p>
            <a:r>
              <a:rPr lang="en-US"/>
              <a:t>This project shows how data analysis helps find the main source behind customer satisfaction</a:t>
            </a:r>
          </a:p>
          <a:p>
            <a:r>
              <a:rPr lang="en-US"/>
              <a:t>The different chats and analysis methods were used to understand what makes customers  happy or unhappy</a:t>
            </a:r>
          </a:p>
          <a:p>
            <a:r>
              <a:rPr lang="en-US"/>
              <a:t>The results help improve delivery service and support systems in online shopping</a:t>
            </a:r>
          </a:p>
        </p:txBody>
      </p:sp>
    </p:spTree>
    <p:extLst>
      <p:ext uri="{BB962C8B-B14F-4D97-AF65-F5344CB8AC3E}">
        <p14:creationId xmlns:p14="http://schemas.microsoft.com/office/powerpoint/2010/main" val="2264185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0450A-9EC2-BB32-D11F-2BEC59E30817}"/>
              </a:ext>
            </a:extLst>
          </p:cNvPr>
          <p:cNvSpPr>
            <a:spLocks noGrp="1"/>
          </p:cNvSpPr>
          <p:nvPr>
            <p:ph type="title"/>
          </p:nvPr>
        </p:nvSpPr>
        <p:spPr/>
        <p:txBody>
          <a:bodyPr/>
          <a:lstStyle/>
          <a:p>
            <a:r>
              <a:rPr lang="en-US" b="1">
                <a:solidFill>
                  <a:schemeClr val="accent1">
                    <a:lumMod val="50000"/>
                  </a:schemeClr>
                </a:solidFill>
              </a:rPr>
              <a:t>Future scope</a:t>
            </a:r>
            <a:endParaRPr lang="en-IN" b="1">
              <a:solidFill>
                <a:schemeClr val="accent1">
                  <a:lumMod val="50000"/>
                </a:schemeClr>
              </a:solidFill>
            </a:endParaRPr>
          </a:p>
        </p:txBody>
      </p:sp>
      <p:sp>
        <p:nvSpPr>
          <p:cNvPr id="3" name="Content Placeholder 2">
            <a:extLst>
              <a:ext uri="{FF2B5EF4-FFF2-40B4-BE49-F238E27FC236}">
                <a16:creationId xmlns:a16="http://schemas.microsoft.com/office/drawing/2014/main" id="{77624EA8-8F04-073E-14D2-628B7D102FCB}"/>
              </a:ext>
            </a:extLst>
          </p:cNvPr>
          <p:cNvSpPr>
            <a:spLocks noGrp="1"/>
          </p:cNvSpPr>
          <p:nvPr>
            <p:ph idx="1"/>
          </p:nvPr>
        </p:nvSpPr>
        <p:spPr>
          <a:xfrm>
            <a:off x="838200" y="1825625"/>
            <a:ext cx="10027920" cy="4316095"/>
          </a:xfrm>
        </p:spPr>
        <p:txBody>
          <a:bodyPr/>
          <a:lstStyle/>
          <a:p>
            <a:r>
              <a:rPr lang="en-US"/>
              <a:t>Real time analytics feature systems can include live boards dashboards to track delivery issues and customer feedback instantly</a:t>
            </a:r>
            <a:endParaRPr lang="en-IN"/>
          </a:p>
          <a:p>
            <a:r>
              <a:rPr lang="en-US"/>
              <a:t>Ai based prediction models can be added to predict customer satisfaction and detect problems before they happen</a:t>
            </a:r>
          </a:p>
          <a:p>
            <a:r>
              <a:rPr lang="en-US"/>
              <a:t>Integration with delivery apps the system can be connected directly to Courier apps for real </a:t>
            </a:r>
            <a:r>
              <a:rPr lang="en-US" err="1"/>
              <a:t>Real</a:t>
            </a:r>
            <a:r>
              <a:rPr lang="en-US"/>
              <a:t> time delivery status and automated updates</a:t>
            </a:r>
          </a:p>
          <a:p>
            <a:endParaRPr lang="en-US"/>
          </a:p>
        </p:txBody>
      </p:sp>
    </p:spTree>
    <p:extLst>
      <p:ext uri="{BB962C8B-B14F-4D97-AF65-F5344CB8AC3E}">
        <p14:creationId xmlns:p14="http://schemas.microsoft.com/office/powerpoint/2010/main" val="630775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51D64-017A-6F05-6408-53DDF927E3ED}"/>
              </a:ext>
            </a:extLst>
          </p:cNvPr>
          <p:cNvSpPr>
            <a:spLocks noGrp="1"/>
          </p:cNvSpPr>
          <p:nvPr>
            <p:ph type="title"/>
          </p:nvPr>
        </p:nvSpPr>
        <p:spPr>
          <a:xfrm>
            <a:off x="641872" y="-371106"/>
            <a:ext cx="10515600" cy="1325563"/>
          </a:xfrm>
        </p:spPr>
        <p:txBody>
          <a:bodyPr>
            <a:normAutofit/>
          </a:bodyPr>
          <a:lstStyle/>
          <a:p>
            <a:r>
              <a:rPr lang="en-IN" sz="4800" b="1">
                <a:solidFill>
                  <a:schemeClr val="accent1">
                    <a:lumMod val="50000"/>
                  </a:schemeClr>
                </a:solidFill>
              </a:rPr>
              <a:t>References</a:t>
            </a:r>
          </a:p>
        </p:txBody>
      </p:sp>
      <p:sp>
        <p:nvSpPr>
          <p:cNvPr id="3" name="Content Placeholder 2">
            <a:extLst>
              <a:ext uri="{FF2B5EF4-FFF2-40B4-BE49-F238E27FC236}">
                <a16:creationId xmlns:a16="http://schemas.microsoft.com/office/drawing/2014/main" id="{A2969A4B-D7D1-9D07-D5D4-5368048B7877}"/>
              </a:ext>
            </a:extLst>
          </p:cNvPr>
          <p:cNvSpPr>
            <a:spLocks noGrp="1"/>
          </p:cNvSpPr>
          <p:nvPr>
            <p:ph idx="1"/>
          </p:nvPr>
        </p:nvSpPr>
        <p:spPr>
          <a:xfrm>
            <a:off x="0" y="623112"/>
            <a:ext cx="12192000" cy="6358819"/>
          </a:xfrm>
        </p:spPr>
        <p:txBody>
          <a:bodyPr vert="horz" lIns="91440" tIns="45720" rIns="91440" bIns="45720" rtlCol="0" anchor="t">
            <a:normAutofit/>
          </a:bodyPr>
          <a:lstStyle/>
          <a:p>
            <a:pPr marL="342900" indent="-342900" algn="just">
              <a:buFont typeface="+mj-lt"/>
              <a:buAutoNum type="arabicPeriod"/>
            </a:pPr>
            <a:r>
              <a:rPr lang="en-IN" sz="2000" b="1" dirty="0"/>
              <a:t>Gupta, R., Sharma, T., &amp; Mehta, S. (2023)</a:t>
            </a:r>
            <a:r>
              <a:rPr lang="en-IN" sz="2000" dirty="0"/>
              <a:t>. AI for e-commerce logistics optimization. Journal of Business Analytics
</a:t>
            </a:r>
            <a:r>
              <a:rPr lang="en-IN" sz="2000" b="1" dirty="0"/>
              <a:t>Singh, A., &amp; Das, P. (2022)</a:t>
            </a:r>
            <a:r>
              <a:rPr lang="en-IN" sz="2000" dirty="0"/>
              <a:t>. Sentiment mining from e-commerce reviews. </a:t>
            </a:r>
            <a:r>
              <a:rPr lang="en-IN" sz="2000" dirty="0">
                <a:hlinkClick r:id="rId2"/>
              </a:rPr>
              <a:t>https://doi.org/10.1109/XXXXX.2022.1234567</a:t>
            </a:r>
            <a:r>
              <a:rPr lang="en-IN" sz="2000" dirty="0"/>
              <a:t> </a:t>
            </a:r>
          </a:p>
          <a:p>
            <a:pPr marL="342900" indent="-342900" algn="just">
              <a:buFont typeface="+mj-lt"/>
              <a:buAutoNum type="arabicPeriod"/>
            </a:pPr>
            <a:r>
              <a:rPr lang="en-IN" sz="2000" b="1" dirty="0"/>
              <a:t>Chen, L., Zhang, Y., &amp; Wu, H. (2021).</a:t>
            </a:r>
            <a:r>
              <a:rPr lang="en-IN" sz="2000" dirty="0"/>
              <a:t> Real-time delivery risk assessment using AI. Elsevier Logistics Review, 45(3), 120–135.</a:t>
            </a:r>
            <a:endParaRPr lang="en-US" sz="2000" dirty="0"/>
          </a:p>
          <a:p>
            <a:pPr marL="342900" indent="-342900">
              <a:buFont typeface="+mj-lt"/>
              <a:buAutoNum type="arabicPeriod"/>
            </a:pPr>
            <a:r>
              <a:rPr lang="en-IN" sz="2000" b="1" dirty="0"/>
              <a:t>Zulfiqar et al. (2024)</a:t>
            </a:r>
            <a:r>
              <a:rPr lang="en-IN" sz="2000" dirty="0"/>
              <a:t> – AI in E-commerce Logistics. Focuses on AI’s role in optimizing supply chains, including demand forecasting and route planning</a:t>
            </a:r>
          </a:p>
          <a:p>
            <a:pPr marL="342900" lvl="0" indent="-342900">
              <a:buFont typeface="+mj-lt"/>
              <a:buAutoNum type="arabicPeriod"/>
            </a:pPr>
            <a:r>
              <a:rPr lang="en-IN" sz="2000" dirty="0">
                <a:solidFill>
                  <a:srgbClr val="222222"/>
                </a:solidFill>
                <a:effectLst/>
                <a:latin typeface="Times New Roman" panose="02020603050405020304" pitchFamily="18" charset="0"/>
                <a:ea typeface="Times New Roman" panose="02020603050405020304" pitchFamily="18" charset="0"/>
              </a:rPr>
              <a:t>Fisk, R.P.; Tracking the evolution of the services marketing literature. </a:t>
            </a:r>
            <a:r>
              <a:rPr lang="en-IN" sz="2000" i="1" dirty="0">
                <a:solidFill>
                  <a:srgbClr val="222222"/>
                </a:solidFill>
                <a:effectLst/>
                <a:latin typeface="Times New Roman" panose="02020603050405020304" pitchFamily="18" charset="0"/>
                <a:ea typeface="Times New Roman" panose="02020603050405020304" pitchFamily="18" charset="0"/>
              </a:rPr>
              <a:t>J. Retail.</a:t>
            </a:r>
            <a:r>
              <a:rPr lang="en-IN" sz="2000" dirty="0">
                <a:solidFill>
                  <a:srgbClr val="222222"/>
                </a:solidFill>
                <a:effectLst/>
                <a:latin typeface="Times New Roman" panose="02020603050405020304" pitchFamily="18" charset="0"/>
                <a:ea typeface="Times New Roman" panose="02020603050405020304" pitchFamily="18" charset="0"/>
              </a:rPr>
              <a:t> 1993, </a:t>
            </a:r>
            <a:r>
              <a:rPr lang="en-IN" sz="2000" i="1" dirty="0">
                <a:solidFill>
                  <a:srgbClr val="222222"/>
                </a:solidFill>
                <a:effectLst/>
                <a:latin typeface="Times New Roman" panose="02020603050405020304" pitchFamily="18" charset="0"/>
                <a:ea typeface="Times New Roman" panose="02020603050405020304" pitchFamily="18" charset="0"/>
              </a:rPr>
              <a:t>69</a:t>
            </a:r>
            <a:r>
              <a:rPr lang="en-IN" sz="2000" dirty="0">
                <a:solidFill>
                  <a:srgbClr val="222222"/>
                </a:solidFill>
                <a:effectLst/>
                <a:latin typeface="Times New Roman" panose="02020603050405020304" pitchFamily="18" charset="0"/>
                <a:ea typeface="Times New Roman" panose="02020603050405020304" pitchFamily="18" charset="0"/>
              </a:rPr>
              <a:t>, 61–103. </a:t>
            </a:r>
            <a:endParaRPr lang="en-GB" sz="20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IN" sz="2000" dirty="0">
                <a:solidFill>
                  <a:srgbClr val="222222"/>
                </a:solidFill>
                <a:effectLst/>
                <a:latin typeface="Times New Roman" panose="02020603050405020304" pitchFamily="18" charset="0"/>
                <a:ea typeface="Times New Roman" panose="02020603050405020304" pitchFamily="18" charset="0"/>
              </a:rPr>
              <a:t>Stank, T.P.; Effect of service supplier performance on satisfaction and loyalty of store managers in the fast food industry. </a:t>
            </a:r>
            <a:r>
              <a:rPr lang="en-IN" sz="2000" i="1" dirty="0">
                <a:solidFill>
                  <a:srgbClr val="222222"/>
                </a:solidFill>
                <a:effectLst/>
                <a:latin typeface="Times New Roman" panose="02020603050405020304" pitchFamily="18" charset="0"/>
                <a:ea typeface="Times New Roman" panose="02020603050405020304" pitchFamily="18" charset="0"/>
              </a:rPr>
              <a:t>J. </a:t>
            </a:r>
            <a:r>
              <a:rPr lang="en-IN" sz="2000" i="1" dirty="0" err="1">
                <a:solidFill>
                  <a:srgbClr val="222222"/>
                </a:solidFill>
                <a:effectLst/>
                <a:latin typeface="Times New Roman" panose="02020603050405020304" pitchFamily="18" charset="0"/>
                <a:ea typeface="Times New Roman" panose="02020603050405020304" pitchFamily="18" charset="0"/>
              </a:rPr>
              <a:t>Oper</a:t>
            </a:r>
            <a:r>
              <a:rPr lang="en-IN" sz="2000" i="1" dirty="0">
                <a:solidFill>
                  <a:srgbClr val="222222"/>
                </a:solidFill>
                <a:effectLst/>
                <a:latin typeface="Times New Roman" panose="02020603050405020304" pitchFamily="18" charset="0"/>
                <a:ea typeface="Times New Roman" panose="02020603050405020304" pitchFamily="18" charset="0"/>
              </a:rPr>
              <a:t>. </a:t>
            </a:r>
            <a:r>
              <a:rPr lang="en-IN" sz="2000" i="1" dirty="0" err="1">
                <a:solidFill>
                  <a:srgbClr val="222222"/>
                </a:solidFill>
                <a:effectLst/>
                <a:latin typeface="Times New Roman" panose="02020603050405020304" pitchFamily="18" charset="0"/>
                <a:ea typeface="Times New Roman" panose="02020603050405020304" pitchFamily="18" charset="0"/>
              </a:rPr>
              <a:t>Manag</a:t>
            </a:r>
            <a:r>
              <a:rPr lang="en-IN" sz="2000" i="1" dirty="0">
                <a:solidFill>
                  <a:srgbClr val="222222"/>
                </a:solidFill>
                <a:effectLst/>
                <a:latin typeface="Times New Roman" panose="02020603050405020304" pitchFamily="18" charset="0"/>
                <a:ea typeface="Times New Roman" panose="02020603050405020304" pitchFamily="18" charset="0"/>
              </a:rPr>
              <a:t>.</a:t>
            </a:r>
            <a:r>
              <a:rPr lang="en-IN" sz="2000" dirty="0">
                <a:solidFill>
                  <a:srgbClr val="222222"/>
                </a:solidFill>
                <a:effectLst/>
                <a:latin typeface="Times New Roman" panose="02020603050405020304" pitchFamily="18" charset="0"/>
                <a:ea typeface="Times New Roman" panose="02020603050405020304" pitchFamily="18" charset="0"/>
              </a:rPr>
              <a:t> 1999, </a:t>
            </a:r>
            <a:r>
              <a:rPr lang="en-IN" sz="2000" i="1" dirty="0">
                <a:solidFill>
                  <a:srgbClr val="222222"/>
                </a:solidFill>
                <a:effectLst/>
                <a:latin typeface="Times New Roman" panose="02020603050405020304" pitchFamily="18" charset="0"/>
                <a:ea typeface="Times New Roman" panose="02020603050405020304" pitchFamily="18" charset="0"/>
              </a:rPr>
              <a:t>17</a:t>
            </a:r>
            <a:r>
              <a:rPr lang="en-IN" sz="2000" dirty="0">
                <a:solidFill>
                  <a:srgbClr val="222222"/>
                </a:solidFill>
                <a:effectLst/>
                <a:latin typeface="Times New Roman" panose="02020603050405020304" pitchFamily="18" charset="0"/>
                <a:ea typeface="Times New Roman" panose="02020603050405020304" pitchFamily="18" charset="0"/>
              </a:rPr>
              <a:t>, 429–447. </a:t>
            </a:r>
            <a:endParaRPr lang="en-GB" sz="20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IN" sz="2000" dirty="0">
                <a:solidFill>
                  <a:srgbClr val="222222"/>
                </a:solidFill>
                <a:effectLst/>
                <a:latin typeface="Times New Roman" panose="02020603050405020304" pitchFamily="18" charset="0"/>
                <a:ea typeface="Times New Roman" panose="02020603050405020304" pitchFamily="18" charset="0"/>
              </a:rPr>
              <a:t>Ha, N.T. Factors affecting online shopping intentions of Vietnamese consumers: Research expanding the theory of planned </a:t>
            </a:r>
            <a:r>
              <a:rPr lang="en-IN" sz="2000" dirty="0" err="1">
                <a:solidFill>
                  <a:srgbClr val="222222"/>
                </a:solidFill>
                <a:effectLst/>
                <a:latin typeface="Times New Roman" panose="02020603050405020304" pitchFamily="18" charset="0"/>
                <a:ea typeface="Times New Roman" panose="02020603050405020304" pitchFamily="18" charset="0"/>
              </a:rPr>
              <a:t>behavior</a:t>
            </a:r>
            <a:r>
              <a:rPr lang="en-IN" sz="2000" dirty="0">
                <a:solidFill>
                  <a:srgbClr val="222222"/>
                </a:solidFill>
                <a:effectLst/>
                <a:latin typeface="Times New Roman" panose="02020603050405020304" pitchFamily="18" charset="0"/>
                <a:ea typeface="Times New Roman" panose="02020603050405020304" pitchFamily="18" charset="0"/>
              </a:rPr>
              <a:t>. </a:t>
            </a:r>
            <a:r>
              <a:rPr lang="en-IN" sz="2000" i="1" dirty="0" err="1">
                <a:solidFill>
                  <a:srgbClr val="222222"/>
                </a:solidFill>
                <a:effectLst/>
                <a:latin typeface="Times New Roman" panose="02020603050405020304" pitchFamily="18" charset="0"/>
                <a:ea typeface="Times New Roman" panose="02020603050405020304" pitchFamily="18" charset="0"/>
              </a:rPr>
              <a:t>Vnu</a:t>
            </a:r>
            <a:r>
              <a:rPr lang="en-IN" sz="2000" i="1" dirty="0">
                <a:solidFill>
                  <a:srgbClr val="222222"/>
                </a:solidFill>
                <a:effectLst/>
                <a:latin typeface="Times New Roman" panose="02020603050405020304" pitchFamily="18" charset="0"/>
                <a:ea typeface="Times New Roman" panose="02020603050405020304" pitchFamily="18" charset="0"/>
              </a:rPr>
              <a:t> J. Econ. Bus.</a:t>
            </a:r>
            <a:r>
              <a:rPr lang="en-IN" sz="2000" dirty="0">
                <a:solidFill>
                  <a:srgbClr val="222222"/>
                </a:solidFill>
                <a:effectLst/>
                <a:latin typeface="Times New Roman" panose="02020603050405020304" pitchFamily="18" charset="0"/>
                <a:ea typeface="Times New Roman" panose="02020603050405020304" pitchFamily="18" charset="0"/>
              </a:rPr>
              <a:t> 2016, </a:t>
            </a:r>
            <a:r>
              <a:rPr lang="en-IN" sz="2000" i="1" dirty="0">
                <a:solidFill>
                  <a:srgbClr val="222222"/>
                </a:solidFill>
                <a:effectLst/>
                <a:latin typeface="Times New Roman" panose="02020603050405020304" pitchFamily="18" charset="0"/>
                <a:ea typeface="Times New Roman" panose="02020603050405020304" pitchFamily="18" charset="0"/>
              </a:rPr>
              <a:t>32</a:t>
            </a:r>
            <a:r>
              <a:rPr lang="en-IN" sz="2000" dirty="0">
                <a:solidFill>
                  <a:srgbClr val="222222"/>
                </a:solidFill>
                <a:effectLst/>
                <a:latin typeface="Times New Roman" panose="02020603050405020304" pitchFamily="18" charset="0"/>
                <a:ea typeface="Times New Roman" panose="02020603050405020304" pitchFamily="18" charset="0"/>
              </a:rPr>
              <a:t>, 21–28. </a:t>
            </a:r>
            <a:endParaRPr lang="en-GB" sz="20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IN" sz="2000" dirty="0">
                <a:solidFill>
                  <a:srgbClr val="222222"/>
                </a:solidFill>
                <a:effectLst/>
                <a:latin typeface="Times New Roman" panose="02020603050405020304" pitchFamily="18" charset="0"/>
                <a:ea typeface="Times New Roman" panose="02020603050405020304" pitchFamily="18" charset="0"/>
              </a:rPr>
              <a:t>Rao, S.; . Electronic logistics service quality (e-LSQ): Its impact on the customer’s purchase satisfaction and retention. </a:t>
            </a:r>
            <a:r>
              <a:rPr lang="en-IN" sz="2000" i="1" dirty="0">
                <a:solidFill>
                  <a:srgbClr val="222222"/>
                </a:solidFill>
                <a:effectLst/>
                <a:latin typeface="Times New Roman" panose="02020603050405020304" pitchFamily="18" charset="0"/>
                <a:ea typeface="Times New Roman" panose="02020603050405020304" pitchFamily="18" charset="0"/>
              </a:rPr>
              <a:t>J. Bus. </a:t>
            </a:r>
            <a:r>
              <a:rPr lang="en-IN" sz="2000" i="1" dirty="0" err="1">
                <a:solidFill>
                  <a:srgbClr val="222222"/>
                </a:solidFill>
                <a:effectLst/>
                <a:latin typeface="Times New Roman" panose="02020603050405020304" pitchFamily="18" charset="0"/>
                <a:ea typeface="Times New Roman" panose="02020603050405020304" pitchFamily="18" charset="0"/>
              </a:rPr>
              <a:t>Logist</a:t>
            </a:r>
            <a:r>
              <a:rPr lang="en-IN" sz="2000" i="1" dirty="0">
                <a:solidFill>
                  <a:srgbClr val="222222"/>
                </a:solidFill>
                <a:effectLst/>
                <a:latin typeface="Times New Roman" panose="02020603050405020304" pitchFamily="18" charset="0"/>
                <a:ea typeface="Times New Roman" panose="02020603050405020304" pitchFamily="18" charset="0"/>
              </a:rPr>
              <a:t>.</a:t>
            </a:r>
            <a:r>
              <a:rPr lang="en-IN" sz="2000" dirty="0">
                <a:solidFill>
                  <a:srgbClr val="222222"/>
                </a:solidFill>
                <a:effectLst/>
                <a:latin typeface="Times New Roman" panose="02020603050405020304" pitchFamily="18" charset="0"/>
                <a:ea typeface="Times New Roman" panose="02020603050405020304" pitchFamily="18" charset="0"/>
              </a:rPr>
              <a:t> 2011, </a:t>
            </a:r>
            <a:r>
              <a:rPr lang="en-IN" sz="2000" i="1" dirty="0">
                <a:solidFill>
                  <a:srgbClr val="222222"/>
                </a:solidFill>
                <a:effectLst/>
                <a:latin typeface="Times New Roman" panose="02020603050405020304" pitchFamily="18" charset="0"/>
                <a:ea typeface="Times New Roman" panose="02020603050405020304" pitchFamily="18" charset="0"/>
              </a:rPr>
              <a:t>32</a:t>
            </a:r>
            <a:r>
              <a:rPr lang="en-IN" sz="2000" dirty="0">
                <a:solidFill>
                  <a:srgbClr val="222222"/>
                </a:solidFill>
                <a:effectLst/>
                <a:latin typeface="Times New Roman" panose="02020603050405020304" pitchFamily="18" charset="0"/>
                <a:ea typeface="Times New Roman" panose="02020603050405020304" pitchFamily="18" charset="0"/>
              </a:rPr>
              <a:t>, 167–179. </a:t>
            </a:r>
            <a:endParaRPr lang="en-GB" sz="20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IN" sz="2000" dirty="0" err="1">
                <a:solidFill>
                  <a:srgbClr val="222222"/>
                </a:solidFill>
                <a:effectLst/>
                <a:latin typeface="Times New Roman" panose="02020603050405020304" pitchFamily="18" charset="0"/>
                <a:ea typeface="Times New Roman" panose="02020603050405020304" pitchFamily="18" charset="0"/>
              </a:rPr>
              <a:t>Griffis</a:t>
            </a:r>
            <a:r>
              <a:rPr lang="en-IN" sz="2000" dirty="0">
                <a:solidFill>
                  <a:srgbClr val="222222"/>
                </a:solidFill>
                <a:effectLst/>
                <a:latin typeface="Times New Roman" panose="02020603050405020304" pitchFamily="18" charset="0"/>
                <a:ea typeface="Times New Roman" panose="02020603050405020304" pitchFamily="18" charset="0"/>
              </a:rPr>
              <a:t>, S.E.;. Linking order </a:t>
            </a:r>
            <a:r>
              <a:rPr lang="en-IN" sz="2000" dirty="0" err="1">
                <a:solidFill>
                  <a:srgbClr val="222222"/>
                </a:solidFill>
                <a:effectLst/>
                <a:latin typeface="Times New Roman" panose="02020603050405020304" pitchFamily="18" charset="0"/>
                <a:ea typeface="Times New Roman" panose="02020603050405020304" pitchFamily="18" charset="0"/>
              </a:rPr>
              <a:t>fulfillment</a:t>
            </a:r>
            <a:r>
              <a:rPr lang="en-IN" sz="2000" dirty="0">
                <a:solidFill>
                  <a:srgbClr val="222222"/>
                </a:solidFill>
                <a:effectLst/>
                <a:latin typeface="Times New Roman" panose="02020603050405020304" pitchFamily="18" charset="0"/>
                <a:ea typeface="Times New Roman" panose="02020603050405020304" pitchFamily="18" charset="0"/>
              </a:rPr>
              <a:t> performance to referrals in online retailing: An empirical analysis. </a:t>
            </a:r>
            <a:r>
              <a:rPr lang="en-IN" sz="2000" i="1" dirty="0">
                <a:solidFill>
                  <a:srgbClr val="222222"/>
                </a:solidFill>
                <a:effectLst/>
                <a:latin typeface="Times New Roman" panose="02020603050405020304" pitchFamily="18" charset="0"/>
                <a:ea typeface="Times New Roman" panose="02020603050405020304" pitchFamily="18" charset="0"/>
              </a:rPr>
              <a:t>J. Bus. </a:t>
            </a:r>
            <a:r>
              <a:rPr lang="en-IN" sz="2000" i="1" dirty="0" err="1">
                <a:solidFill>
                  <a:srgbClr val="222222"/>
                </a:solidFill>
                <a:effectLst/>
                <a:latin typeface="Times New Roman" panose="02020603050405020304" pitchFamily="18" charset="0"/>
                <a:ea typeface="Times New Roman" panose="02020603050405020304" pitchFamily="18" charset="0"/>
              </a:rPr>
              <a:t>Logist</a:t>
            </a:r>
            <a:r>
              <a:rPr lang="en-IN" sz="2000" i="1" dirty="0">
                <a:solidFill>
                  <a:srgbClr val="222222"/>
                </a:solidFill>
                <a:effectLst/>
                <a:latin typeface="Times New Roman" panose="02020603050405020304" pitchFamily="18" charset="0"/>
                <a:ea typeface="Times New Roman" panose="02020603050405020304" pitchFamily="18" charset="0"/>
              </a:rPr>
              <a:t>.</a:t>
            </a:r>
            <a:r>
              <a:rPr lang="en-IN" sz="2000" dirty="0">
                <a:solidFill>
                  <a:srgbClr val="222222"/>
                </a:solidFill>
                <a:effectLst/>
                <a:latin typeface="Times New Roman" panose="02020603050405020304" pitchFamily="18" charset="0"/>
                <a:ea typeface="Times New Roman" panose="02020603050405020304" pitchFamily="18" charset="0"/>
              </a:rPr>
              <a:t> 2012, </a:t>
            </a:r>
            <a:r>
              <a:rPr lang="en-IN" sz="2000" i="1" dirty="0">
                <a:solidFill>
                  <a:srgbClr val="222222"/>
                </a:solidFill>
                <a:effectLst/>
                <a:latin typeface="Times New Roman" panose="02020603050405020304" pitchFamily="18" charset="0"/>
                <a:ea typeface="Times New Roman" panose="02020603050405020304" pitchFamily="18" charset="0"/>
              </a:rPr>
              <a:t>33</a:t>
            </a:r>
            <a:r>
              <a:rPr lang="en-IN" sz="2000" dirty="0">
                <a:solidFill>
                  <a:srgbClr val="222222"/>
                </a:solidFill>
                <a:effectLst/>
                <a:latin typeface="Times New Roman" panose="02020603050405020304" pitchFamily="18" charset="0"/>
                <a:ea typeface="Times New Roman" panose="02020603050405020304" pitchFamily="18" charset="0"/>
              </a:rPr>
              <a:t>, 279–294. </a:t>
            </a:r>
            <a:endParaRPr lang="en-GB" sz="2000" dirty="0">
              <a:effectLst/>
              <a:latin typeface="Times New Roman" panose="02020603050405020304" pitchFamily="18" charset="0"/>
              <a:ea typeface="Times New Roman" panose="02020603050405020304" pitchFamily="18" charset="0"/>
            </a:endParaRPr>
          </a:p>
          <a:p>
            <a:pPr marL="342900" indent="-342900">
              <a:buFont typeface="+mj-lt"/>
              <a:buAutoNum type="arabicPeriod"/>
            </a:pPr>
            <a:r>
              <a:rPr lang="en-IN" sz="2000" dirty="0">
                <a:solidFill>
                  <a:srgbClr val="222222"/>
                </a:solidFill>
                <a:effectLst/>
                <a:latin typeface="Times New Roman" panose="02020603050405020304" pitchFamily="18" charset="0"/>
                <a:ea typeface="Times New Roman" panose="02020603050405020304" pitchFamily="18" charset="0"/>
              </a:rPr>
              <a:t>Chen, S.-C. The customer satisfaction–loyalty relation in an interactive e-service setting: The mediators. </a:t>
            </a:r>
            <a:r>
              <a:rPr lang="en-IN" sz="2000" i="1" dirty="0">
                <a:solidFill>
                  <a:srgbClr val="222222"/>
                </a:solidFill>
                <a:effectLst/>
                <a:latin typeface="Times New Roman" panose="02020603050405020304" pitchFamily="18" charset="0"/>
                <a:ea typeface="Times New Roman" panose="02020603050405020304" pitchFamily="18" charset="0"/>
              </a:rPr>
              <a:t>J. Retail. </a:t>
            </a:r>
            <a:r>
              <a:rPr lang="en-IN" sz="2000" i="1" dirty="0" err="1">
                <a:solidFill>
                  <a:srgbClr val="222222"/>
                </a:solidFill>
                <a:effectLst/>
                <a:latin typeface="Times New Roman" panose="02020603050405020304" pitchFamily="18" charset="0"/>
                <a:ea typeface="Times New Roman" panose="02020603050405020304" pitchFamily="18" charset="0"/>
              </a:rPr>
              <a:t>Consum</a:t>
            </a:r>
            <a:r>
              <a:rPr lang="en-IN" sz="2000" i="1" dirty="0">
                <a:solidFill>
                  <a:srgbClr val="222222"/>
                </a:solidFill>
                <a:effectLst/>
                <a:latin typeface="Times New Roman" panose="02020603050405020304" pitchFamily="18" charset="0"/>
                <a:ea typeface="Times New Roman" panose="02020603050405020304" pitchFamily="18" charset="0"/>
              </a:rPr>
              <a:t>. Serv.</a:t>
            </a:r>
            <a:r>
              <a:rPr lang="en-IN" sz="2000" dirty="0">
                <a:solidFill>
                  <a:srgbClr val="222222"/>
                </a:solidFill>
                <a:effectLst/>
                <a:latin typeface="Times New Roman" panose="02020603050405020304" pitchFamily="18" charset="0"/>
                <a:ea typeface="Times New Roman" panose="02020603050405020304" pitchFamily="18" charset="0"/>
              </a:rPr>
              <a:t> 2012, </a:t>
            </a:r>
            <a:r>
              <a:rPr lang="en-IN" sz="2000" i="1" dirty="0">
                <a:solidFill>
                  <a:srgbClr val="222222"/>
                </a:solidFill>
                <a:effectLst/>
                <a:latin typeface="Times New Roman" panose="02020603050405020304" pitchFamily="18" charset="0"/>
                <a:ea typeface="Times New Roman" panose="02020603050405020304" pitchFamily="18" charset="0"/>
              </a:rPr>
              <a:t>19</a:t>
            </a:r>
            <a:r>
              <a:rPr lang="en-IN" sz="2000" dirty="0">
                <a:solidFill>
                  <a:srgbClr val="222222"/>
                </a:solidFill>
                <a:effectLst/>
                <a:latin typeface="Times New Roman" panose="02020603050405020304" pitchFamily="18" charset="0"/>
                <a:ea typeface="Times New Roman" panose="02020603050405020304" pitchFamily="18" charset="0"/>
              </a:rPr>
              <a:t>, 202–210.</a:t>
            </a:r>
            <a:endParaRPr lang="en-IN" sz="2000" dirty="0">
              <a:solidFill>
                <a:srgbClr val="222222"/>
              </a:solidFill>
              <a:latin typeface="Times New Roman" panose="02020603050405020304" pitchFamily="18" charset="0"/>
              <a:ea typeface="Calibri"/>
              <a:cs typeface="Calibri"/>
            </a:endParaRPr>
          </a:p>
          <a:p>
            <a:pPr marL="342900" lvl="0" indent="-342900">
              <a:buFont typeface="+mj-lt"/>
              <a:buAutoNum type="arabicPeriod"/>
            </a:pPr>
            <a:endParaRPr lang="en-IN" sz="2000" dirty="0">
              <a:ea typeface="Calibri"/>
              <a:cs typeface="Calibri"/>
            </a:endParaRPr>
          </a:p>
        </p:txBody>
      </p:sp>
    </p:spTree>
    <p:extLst>
      <p:ext uri="{BB962C8B-B14F-4D97-AF65-F5344CB8AC3E}">
        <p14:creationId xmlns:p14="http://schemas.microsoft.com/office/powerpoint/2010/main" val="2154218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9BD94E-582C-71E6-DDFB-2587B4064097}"/>
              </a:ext>
            </a:extLst>
          </p:cNvPr>
          <p:cNvSpPr>
            <a:spLocks noGrp="1"/>
          </p:cNvSpPr>
          <p:nvPr>
            <p:ph idx="1"/>
          </p:nvPr>
        </p:nvSpPr>
        <p:spPr>
          <a:xfrm>
            <a:off x="0" y="299705"/>
            <a:ext cx="12192000" cy="6558295"/>
          </a:xfrm>
        </p:spPr>
        <p:txBody>
          <a:bodyPr>
            <a:noAutofit/>
          </a:bodyPr>
          <a:lstStyle/>
          <a:p>
            <a:pPr marL="0" lvl="0" indent="0">
              <a:buNone/>
            </a:pPr>
            <a:r>
              <a:rPr lang="en-IN" sz="2000" dirty="0">
                <a:solidFill>
                  <a:srgbClr val="222222"/>
                </a:solidFill>
                <a:effectLst/>
                <a:latin typeface="Times New Roman" panose="02020603050405020304" pitchFamily="18" charset="0"/>
                <a:ea typeface="Times New Roman" panose="02020603050405020304" pitchFamily="18" charset="0"/>
              </a:rPr>
              <a:t>11. Quirk, P.; Forder, J. </a:t>
            </a:r>
            <a:r>
              <a:rPr lang="en-IN" sz="2000" i="1" dirty="0">
                <a:solidFill>
                  <a:srgbClr val="222222"/>
                </a:solidFill>
                <a:effectLst/>
                <a:latin typeface="Times New Roman" panose="02020603050405020304" pitchFamily="18" charset="0"/>
                <a:ea typeface="Times New Roman" panose="02020603050405020304" pitchFamily="18" charset="0"/>
              </a:rPr>
              <a:t>Electronic Commerce and the Law</a:t>
            </a:r>
            <a:r>
              <a:rPr lang="en-IN" sz="2000" dirty="0">
                <a:solidFill>
                  <a:srgbClr val="222222"/>
                </a:solidFill>
                <a:effectLst/>
                <a:latin typeface="Times New Roman" panose="02020603050405020304" pitchFamily="18" charset="0"/>
                <a:ea typeface="Times New Roman" panose="02020603050405020304" pitchFamily="18" charset="0"/>
              </a:rPr>
              <a:t>; John Wiley &amp; Sons: Hoboken, NJ, USA, 2003. </a:t>
            </a:r>
            <a:endParaRPr lang="en-GB" sz="2000" dirty="0">
              <a:effectLst/>
              <a:latin typeface="Times New Roman" panose="02020603050405020304" pitchFamily="18" charset="0"/>
              <a:ea typeface="Times New Roman" panose="02020603050405020304" pitchFamily="18" charset="0"/>
            </a:endParaRPr>
          </a:p>
          <a:p>
            <a:pPr marL="0" lvl="0" indent="0">
              <a:buNone/>
            </a:pPr>
            <a:r>
              <a:rPr lang="en-IN" sz="2000" dirty="0">
                <a:solidFill>
                  <a:srgbClr val="222222"/>
                </a:solidFill>
                <a:effectLst/>
                <a:latin typeface="Times New Roman" panose="02020603050405020304" pitchFamily="18" charset="0"/>
                <a:ea typeface="Times New Roman" panose="02020603050405020304" pitchFamily="18" charset="0"/>
              </a:rPr>
              <a:t>12. </a:t>
            </a:r>
            <a:r>
              <a:rPr lang="en-IN" sz="2000" dirty="0" err="1">
                <a:solidFill>
                  <a:srgbClr val="222222"/>
                </a:solidFill>
                <a:effectLst/>
                <a:latin typeface="Times New Roman" panose="02020603050405020304" pitchFamily="18" charset="0"/>
                <a:ea typeface="Times New Roman" panose="02020603050405020304" pitchFamily="18" charset="0"/>
              </a:rPr>
              <a:t>Hou</a:t>
            </a:r>
            <a:r>
              <a:rPr lang="en-IN" sz="2000" dirty="0">
                <a:solidFill>
                  <a:srgbClr val="222222"/>
                </a:solidFill>
                <a:effectLst/>
                <a:latin typeface="Times New Roman" panose="02020603050405020304" pitchFamily="18" charset="0"/>
                <a:ea typeface="Times New Roman" panose="02020603050405020304" pitchFamily="18" charset="0"/>
              </a:rPr>
              <a:t>, H. </a:t>
            </a:r>
            <a:r>
              <a:rPr lang="en-IN" sz="2000" i="1" dirty="0">
                <a:solidFill>
                  <a:srgbClr val="222222"/>
                </a:solidFill>
                <a:effectLst/>
                <a:latin typeface="Times New Roman" panose="02020603050405020304" pitchFamily="18" charset="0"/>
                <a:ea typeface="Times New Roman" panose="02020603050405020304" pitchFamily="18" charset="0"/>
              </a:rPr>
              <a:t> Beijing </a:t>
            </a:r>
            <a:r>
              <a:rPr lang="en-IN" sz="2000" i="1" dirty="0" err="1">
                <a:solidFill>
                  <a:srgbClr val="222222"/>
                </a:solidFill>
                <a:effectLst/>
                <a:latin typeface="Times New Roman" panose="02020603050405020304" pitchFamily="18" charset="0"/>
                <a:ea typeface="Times New Roman" panose="02020603050405020304" pitchFamily="18" charset="0"/>
              </a:rPr>
              <a:t>Jiaotong</a:t>
            </a:r>
            <a:r>
              <a:rPr lang="en-IN" sz="2000" i="1" dirty="0">
                <a:solidFill>
                  <a:srgbClr val="222222"/>
                </a:solidFill>
                <a:effectLst/>
                <a:latin typeface="Times New Roman" panose="02020603050405020304" pitchFamily="18" charset="0"/>
                <a:ea typeface="Times New Roman" panose="02020603050405020304" pitchFamily="18" charset="0"/>
              </a:rPr>
              <a:t> Univ.</a:t>
            </a:r>
            <a:r>
              <a:rPr lang="en-IN" sz="2000" dirty="0">
                <a:solidFill>
                  <a:srgbClr val="222222"/>
                </a:solidFill>
                <a:effectLst/>
                <a:latin typeface="Times New Roman" panose="02020603050405020304" pitchFamily="18" charset="0"/>
                <a:ea typeface="Times New Roman" panose="02020603050405020304" pitchFamily="18" charset="0"/>
              </a:rPr>
              <a:t> 2004, </a:t>
            </a:r>
            <a:r>
              <a:rPr lang="en-IN" sz="2000" i="1" dirty="0">
                <a:solidFill>
                  <a:srgbClr val="222222"/>
                </a:solidFill>
                <a:effectLst/>
                <a:latin typeface="Times New Roman" panose="02020603050405020304" pitchFamily="18" charset="0"/>
                <a:ea typeface="Times New Roman" panose="02020603050405020304" pitchFamily="18" charset="0"/>
              </a:rPr>
              <a:t>3</a:t>
            </a:r>
            <a:r>
              <a:rPr lang="en-IN" sz="2000" dirty="0">
                <a:solidFill>
                  <a:srgbClr val="222222"/>
                </a:solidFill>
                <a:effectLst/>
                <a:latin typeface="Times New Roman" panose="02020603050405020304" pitchFamily="18" charset="0"/>
                <a:ea typeface="Times New Roman" panose="02020603050405020304" pitchFamily="18" charset="0"/>
              </a:rPr>
              <a:t>, 10-16.</a:t>
            </a:r>
            <a:endParaRPr lang="en-GB" sz="2000" dirty="0">
              <a:effectLst/>
              <a:latin typeface="Times New Roman" panose="02020603050405020304" pitchFamily="18" charset="0"/>
              <a:ea typeface="Times New Roman" panose="02020603050405020304" pitchFamily="18" charset="0"/>
            </a:endParaRPr>
          </a:p>
          <a:p>
            <a:pPr marL="0" lvl="0" indent="0">
              <a:buNone/>
            </a:pPr>
            <a:r>
              <a:rPr lang="en-IN" sz="2000" dirty="0">
                <a:solidFill>
                  <a:srgbClr val="222222"/>
                </a:solidFill>
                <a:effectLst/>
                <a:latin typeface="Times New Roman" panose="02020603050405020304" pitchFamily="18" charset="0"/>
                <a:ea typeface="Times New Roman" panose="02020603050405020304" pitchFamily="18" charset="0"/>
              </a:rPr>
              <a:t>13. </a:t>
            </a:r>
            <a:r>
              <a:rPr lang="en-IN" sz="2000" dirty="0" err="1">
                <a:solidFill>
                  <a:srgbClr val="222222"/>
                </a:solidFill>
                <a:effectLst/>
                <a:latin typeface="Times New Roman" panose="02020603050405020304" pitchFamily="18" charset="0"/>
                <a:ea typeface="Times New Roman" panose="02020603050405020304" pitchFamily="18" charset="0"/>
              </a:rPr>
              <a:t>Yazdanifard</a:t>
            </a:r>
            <a:r>
              <a:rPr lang="en-IN" sz="2000" dirty="0">
                <a:solidFill>
                  <a:srgbClr val="222222"/>
                </a:solidFill>
                <a:effectLst/>
                <a:latin typeface="Times New Roman" panose="02020603050405020304" pitchFamily="18" charset="0"/>
                <a:ea typeface="Times New Roman" panose="02020603050405020304" pitchFamily="18" charset="0"/>
              </a:rPr>
              <a:t>, R.  (2011). How Unreliable Delivery system Affects  E- marketing Effectiveness, 10-14.</a:t>
            </a:r>
            <a:endParaRPr lang="en-GB" sz="2000" dirty="0">
              <a:effectLst/>
              <a:latin typeface="Times New Roman" panose="02020603050405020304" pitchFamily="18" charset="0"/>
              <a:ea typeface="Times New Roman" panose="02020603050405020304" pitchFamily="18" charset="0"/>
            </a:endParaRPr>
          </a:p>
          <a:p>
            <a:pPr marL="0" lvl="0" indent="0">
              <a:buNone/>
            </a:pPr>
            <a:r>
              <a:rPr lang="en-IN" sz="2000" dirty="0">
                <a:solidFill>
                  <a:srgbClr val="000000"/>
                </a:solidFill>
                <a:effectLst/>
                <a:latin typeface="ff8"/>
                <a:ea typeface="Times New Roman" panose="02020603050405020304" pitchFamily="18" charset="0"/>
              </a:rPr>
              <a:t>14. Huang, Y., &amp; </a:t>
            </a:r>
            <a:r>
              <a:rPr lang="en-IN" sz="2000" dirty="0" err="1">
                <a:solidFill>
                  <a:srgbClr val="000000"/>
                </a:solidFill>
                <a:effectLst/>
                <a:latin typeface="ff8"/>
                <a:ea typeface="Times New Roman" panose="02020603050405020304" pitchFamily="18" charset="0"/>
              </a:rPr>
              <a:t>Oppewal</a:t>
            </a:r>
            <a:r>
              <a:rPr lang="en-IN" sz="2000" dirty="0">
                <a:solidFill>
                  <a:srgbClr val="000000"/>
                </a:solidFill>
                <a:effectLst/>
                <a:latin typeface="ff8"/>
                <a:ea typeface="Times New Roman" panose="02020603050405020304" pitchFamily="18" charset="0"/>
              </a:rPr>
              <a:t>, H. (2006). Why consumers hesitate to shop online: An experimental choice analysis of grocery  shopping  and  the  role  of  delivery  fees,  </a:t>
            </a:r>
            <a:r>
              <a:rPr lang="en-IN" sz="2000" dirty="0">
                <a:solidFill>
                  <a:srgbClr val="000000"/>
                </a:solidFill>
                <a:effectLst/>
                <a:latin typeface="ffe"/>
                <a:ea typeface="Times New Roman" panose="02020603050405020304" pitchFamily="18" charset="0"/>
              </a:rPr>
              <a:t>International  Journal  of  Retail  &amp;  Distribution Management</a:t>
            </a:r>
            <a:r>
              <a:rPr lang="en-IN" sz="2000" dirty="0">
                <a:solidFill>
                  <a:srgbClr val="000000"/>
                </a:solidFill>
                <a:effectLst/>
                <a:latin typeface="ff8"/>
                <a:ea typeface="Times New Roman" panose="02020603050405020304" pitchFamily="18" charset="0"/>
              </a:rPr>
              <a:t>, 34(4/5), 334–353.</a:t>
            </a:r>
            <a:r>
              <a:rPr lang="en-IN" sz="2000" dirty="0">
                <a:solidFill>
                  <a:srgbClr val="000000"/>
                </a:solidFill>
                <a:effectLst/>
                <a:latin typeface="ff9"/>
                <a:ea typeface="Times New Roman" panose="02020603050405020304" pitchFamily="18" charset="0"/>
              </a:rPr>
              <a:t> </a:t>
            </a:r>
            <a:endParaRPr lang="en-GB" sz="2000" dirty="0">
              <a:effectLst/>
              <a:latin typeface="Times New Roman" panose="02020603050405020304" pitchFamily="18" charset="0"/>
              <a:ea typeface="Times New Roman" panose="02020603050405020304" pitchFamily="18" charset="0"/>
            </a:endParaRPr>
          </a:p>
          <a:p>
            <a:pPr marL="0" indent="0">
              <a:buNone/>
            </a:pPr>
            <a:r>
              <a:rPr lang="en-IN" sz="2000" dirty="0">
                <a:solidFill>
                  <a:srgbClr val="222222"/>
                </a:solidFill>
                <a:effectLst/>
                <a:latin typeface="Times New Roman" panose="02020603050405020304" pitchFamily="18" charset="0"/>
                <a:ea typeface="Times New Roman" panose="02020603050405020304" pitchFamily="18" charset="0"/>
              </a:rPr>
              <a:t> 15. Huang, Y.,  (2006). Why consumers hesitate to shop online: An  experimental choice analysis of grocery  </a:t>
            </a:r>
            <a:r>
              <a:rPr lang="en-IN" sz="2000" dirty="0" err="1">
                <a:solidFill>
                  <a:srgbClr val="222222"/>
                </a:solidFill>
                <a:effectLst/>
                <a:latin typeface="Times New Roman" panose="02020603050405020304" pitchFamily="18" charset="0"/>
                <a:ea typeface="Times New Roman" panose="02020603050405020304" pitchFamily="18" charset="0"/>
              </a:rPr>
              <a:t>shoppingS</a:t>
            </a:r>
            <a:r>
              <a:rPr lang="en-IN" sz="2000" dirty="0">
                <a:solidFill>
                  <a:srgbClr val="222222"/>
                </a:solidFill>
                <a:effectLst/>
                <a:latin typeface="Times New Roman" panose="02020603050405020304" pitchFamily="18" charset="0"/>
                <a:ea typeface="Times New Roman" panose="02020603050405020304" pitchFamily="18" charset="0"/>
              </a:rPr>
              <a:t>  and  the  role  of  delivery  fees,  International  Journal  of  Retail  &amp;  Distribution Management, 34(4/5), 334–353. </a:t>
            </a:r>
            <a:endParaRPr lang="en-GB" sz="2000" dirty="0">
              <a:effectLst/>
              <a:latin typeface="Times New Roman" panose="02020603050405020304" pitchFamily="18" charset="0"/>
              <a:ea typeface="Times New Roman" panose="02020603050405020304" pitchFamily="18" charset="0"/>
            </a:endParaRPr>
          </a:p>
          <a:p>
            <a:pPr marL="0" indent="0">
              <a:buNone/>
            </a:pPr>
            <a:r>
              <a:rPr lang="en-IN" sz="2000" dirty="0">
                <a:solidFill>
                  <a:srgbClr val="222222"/>
                </a:solidFill>
                <a:latin typeface="Times New Roman" panose="02020603050405020304" pitchFamily="18" charset="0"/>
                <a:ea typeface="Times New Roman" panose="02020603050405020304" pitchFamily="18" charset="0"/>
              </a:rPr>
              <a:t>16. </a:t>
            </a:r>
            <a:r>
              <a:rPr lang="en-IN" sz="2000" dirty="0" err="1">
                <a:solidFill>
                  <a:srgbClr val="222222"/>
                </a:solidFill>
                <a:effectLst/>
                <a:latin typeface="Times New Roman" panose="02020603050405020304" pitchFamily="18" charset="0"/>
                <a:ea typeface="Times New Roman" panose="02020603050405020304" pitchFamily="18" charset="0"/>
              </a:rPr>
              <a:t>Sourabh</a:t>
            </a:r>
            <a:r>
              <a:rPr lang="en-IN" sz="2000" dirty="0">
                <a:solidFill>
                  <a:srgbClr val="222222"/>
                </a:solidFill>
                <a:effectLst/>
                <a:latin typeface="Times New Roman" panose="02020603050405020304" pitchFamily="18" charset="0"/>
                <a:ea typeface="Times New Roman" panose="02020603050405020304" pitchFamily="18" charset="0"/>
              </a:rPr>
              <a:t> Bhattacharya, B. B. (2015). Evolution, Growth and Challenges in E-commerce, SUMEDHA Journal of </a:t>
            </a:r>
            <a:r>
              <a:rPr lang="en-IN" sz="2000" dirty="0">
                <a:latin typeface="Times New Roman" panose="02020603050405020304" pitchFamily="18" charset="0"/>
                <a:ea typeface="Times New Roman" panose="02020603050405020304" pitchFamily="18" charset="0"/>
              </a:rPr>
              <a:t>M</a:t>
            </a:r>
            <a:r>
              <a:rPr lang="en-IN" sz="2000" dirty="0">
                <a:solidFill>
                  <a:srgbClr val="222222"/>
                </a:solidFill>
                <a:effectLst/>
                <a:latin typeface="Times New Roman" panose="02020603050405020304" pitchFamily="18" charset="0"/>
                <a:ea typeface="Times New Roman" panose="02020603050405020304" pitchFamily="18" charset="0"/>
              </a:rPr>
              <a:t>anagement, 45-58</a:t>
            </a:r>
            <a:endParaRPr lang="en-IN" sz="2000" dirty="0">
              <a:latin typeface="Times New Roman" panose="02020603050405020304" pitchFamily="18" charset="0"/>
              <a:ea typeface="Times New Roman" panose="02020603050405020304" pitchFamily="18" charset="0"/>
            </a:endParaRPr>
          </a:p>
          <a:p>
            <a:pPr marL="0" indent="0">
              <a:buNone/>
            </a:pPr>
            <a:r>
              <a:rPr lang="en-IN" sz="2000" dirty="0">
                <a:solidFill>
                  <a:srgbClr val="222222"/>
                </a:solidFill>
                <a:effectLst/>
                <a:latin typeface="Times New Roman" panose="02020603050405020304" pitchFamily="18" charset="0"/>
                <a:ea typeface="Times New Roman" panose="02020603050405020304" pitchFamily="18" charset="0"/>
              </a:rPr>
              <a:t>17. </a:t>
            </a:r>
            <a:r>
              <a:rPr lang="en-IN" sz="2000" dirty="0" err="1">
                <a:solidFill>
                  <a:srgbClr val="222222"/>
                </a:solidFill>
                <a:effectLst/>
                <a:latin typeface="Times New Roman" panose="02020603050405020304" pitchFamily="18" charset="0"/>
                <a:ea typeface="Times New Roman" panose="02020603050405020304" pitchFamily="18" charset="0"/>
              </a:rPr>
              <a:t>Averbakh</a:t>
            </a:r>
            <a:r>
              <a:rPr lang="en-IN" sz="2000" dirty="0">
                <a:solidFill>
                  <a:srgbClr val="222222"/>
                </a:solidFill>
                <a:effectLst/>
                <a:latin typeface="Times New Roman" panose="02020603050405020304" pitchFamily="18" charset="0"/>
                <a:ea typeface="Times New Roman" panose="02020603050405020304" pitchFamily="18" charset="0"/>
              </a:rPr>
              <a:t>,  I.  (2012).  Semi-online  two-level  supply  chain  scheduling  problems,  Journal  of Scheduling, 15(3), 381-390.</a:t>
            </a:r>
            <a:r>
              <a:rPr lang="en-IN" sz="2000" dirty="0">
                <a:solidFill>
                  <a:srgbClr val="222222"/>
                </a:solidFill>
                <a:latin typeface="Times New Roman" panose="02020603050405020304" pitchFamily="18" charset="0"/>
                <a:ea typeface="Times New Roman" panose="02020603050405020304" pitchFamily="18" charset="0"/>
              </a:rPr>
              <a:t>
18. </a:t>
            </a:r>
            <a:r>
              <a:rPr lang="en-IN" sz="2000" dirty="0" err="1">
                <a:solidFill>
                  <a:srgbClr val="222222"/>
                </a:solidFill>
                <a:latin typeface="Times New Roman" panose="02020603050405020304" pitchFamily="18" charset="0"/>
                <a:ea typeface="Times New Roman" panose="02020603050405020304" pitchFamily="18" charset="0"/>
              </a:rPr>
              <a:t>Restuputri</a:t>
            </a:r>
            <a:r>
              <a:rPr lang="en-IN" sz="2000" dirty="0">
                <a:solidFill>
                  <a:srgbClr val="222222"/>
                </a:solidFill>
                <a:latin typeface="Times New Roman" panose="02020603050405020304" pitchFamily="18" charset="0"/>
                <a:ea typeface="Times New Roman" panose="02020603050405020304" pitchFamily="18" charset="0"/>
              </a:rPr>
              <a:t>, </a:t>
            </a:r>
            <a:r>
              <a:rPr lang="en-IN" sz="2000" dirty="0" err="1">
                <a:solidFill>
                  <a:srgbClr val="222222"/>
                </a:solidFill>
                <a:latin typeface="Times New Roman" panose="02020603050405020304" pitchFamily="18" charset="0"/>
                <a:ea typeface="Times New Roman" panose="02020603050405020304" pitchFamily="18" charset="0"/>
              </a:rPr>
              <a:t>D.P.The</a:t>
            </a:r>
            <a:r>
              <a:rPr lang="en-IN" sz="2000" dirty="0">
                <a:solidFill>
                  <a:srgbClr val="222222"/>
                </a:solidFill>
                <a:latin typeface="Times New Roman" panose="02020603050405020304" pitchFamily="18" charset="0"/>
                <a:ea typeface="Times New Roman" panose="02020603050405020304" pitchFamily="18" charset="0"/>
              </a:rPr>
              <a:t> effect of logistic service quality on customer satisfaction and loyalty using </a:t>
            </a:r>
            <a:r>
              <a:rPr lang="en-IN" sz="2000" dirty="0" err="1">
                <a:solidFill>
                  <a:srgbClr val="222222"/>
                </a:solidFill>
                <a:latin typeface="Times New Roman" panose="02020603050405020304" pitchFamily="18" charset="0"/>
                <a:ea typeface="Times New Roman" panose="02020603050405020304" pitchFamily="18" charset="0"/>
              </a:rPr>
              <a:t>kansei</a:t>
            </a:r>
            <a:r>
              <a:rPr lang="en-IN" sz="2000" dirty="0">
                <a:solidFill>
                  <a:srgbClr val="222222"/>
                </a:solidFill>
                <a:latin typeface="Times New Roman" panose="02020603050405020304" pitchFamily="18" charset="0"/>
                <a:ea typeface="Times New Roman" panose="02020603050405020304" pitchFamily="18" charset="0"/>
              </a:rPr>
              <a:t> engineering during the COVID-19 pandemic. Cogent Bus. </a:t>
            </a:r>
            <a:r>
              <a:rPr lang="en-IN" sz="2000" dirty="0" err="1">
                <a:solidFill>
                  <a:srgbClr val="222222"/>
                </a:solidFill>
                <a:latin typeface="Times New Roman" panose="02020603050405020304" pitchFamily="18" charset="0"/>
                <a:ea typeface="Times New Roman" panose="02020603050405020304" pitchFamily="18" charset="0"/>
              </a:rPr>
              <a:t>Manag</a:t>
            </a:r>
            <a:r>
              <a:rPr lang="en-IN" sz="2000" dirty="0">
                <a:solidFill>
                  <a:srgbClr val="222222"/>
                </a:solidFill>
                <a:latin typeface="Times New Roman" panose="02020603050405020304" pitchFamily="18" charset="0"/>
                <a:ea typeface="Times New Roman" panose="02020603050405020304" pitchFamily="18" charset="0"/>
              </a:rPr>
              <a:t>. 2021, 8, 1906492. 
19. </a:t>
            </a:r>
            <a:r>
              <a:rPr lang="en-IN" sz="2000" dirty="0" err="1">
                <a:solidFill>
                  <a:srgbClr val="222222"/>
                </a:solidFill>
                <a:latin typeface="Times New Roman" panose="02020603050405020304" pitchFamily="18" charset="0"/>
                <a:ea typeface="Times New Roman" panose="02020603050405020304" pitchFamily="18" charset="0"/>
              </a:rPr>
              <a:t>Bayles</a:t>
            </a:r>
            <a:r>
              <a:rPr lang="en-IN" sz="2000" dirty="0">
                <a:solidFill>
                  <a:srgbClr val="222222"/>
                </a:solidFill>
                <a:latin typeface="Times New Roman" panose="02020603050405020304" pitchFamily="18" charset="0"/>
                <a:ea typeface="Times New Roman" panose="02020603050405020304" pitchFamily="18" charset="0"/>
              </a:rPr>
              <a:t>, D.L. E-logistics &amp; e-</a:t>
            </a:r>
            <a:r>
              <a:rPr lang="en-IN" sz="2000" dirty="0" err="1">
                <a:solidFill>
                  <a:srgbClr val="222222"/>
                </a:solidFill>
                <a:latin typeface="Times New Roman" panose="02020603050405020304" pitchFamily="18" charset="0"/>
                <a:ea typeface="Times New Roman" panose="02020603050405020304" pitchFamily="18" charset="0"/>
              </a:rPr>
              <a:t>fulfillment</a:t>
            </a:r>
            <a:r>
              <a:rPr lang="en-IN" sz="2000" dirty="0">
                <a:solidFill>
                  <a:srgbClr val="222222"/>
                </a:solidFill>
                <a:latin typeface="Times New Roman" panose="02020603050405020304" pitchFamily="18" charset="0"/>
                <a:ea typeface="Times New Roman" panose="02020603050405020304" pitchFamily="18" charset="0"/>
              </a:rPr>
              <a:t>: Beyond the “buy” button. In Proceedings of the UNCTAD Workshop, Geneva, Switzerland, 6 June 2002. 
20. </a:t>
            </a:r>
            <a:r>
              <a:rPr lang="en-IN" sz="2000" dirty="0" err="1">
                <a:solidFill>
                  <a:srgbClr val="222222"/>
                </a:solidFill>
                <a:latin typeface="Times New Roman" panose="02020603050405020304" pitchFamily="18" charset="0"/>
                <a:ea typeface="Times New Roman" panose="02020603050405020304" pitchFamily="18" charset="0"/>
              </a:rPr>
              <a:t>Soh</a:t>
            </a:r>
            <a:r>
              <a:rPr lang="en-IN" sz="2000" dirty="0">
                <a:solidFill>
                  <a:srgbClr val="222222"/>
                </a:solidFill>
                <a:latin typeface="Times New Roman" panose="02020603050405020304" pitchFamily="18" charset="0"/>
                <a:ea typeface="Times New Roman" panose="02020603050405020304" pitchFamily="18" charset="0"/>
              </a:rPr>
              <a:t>, K.L.. A theoretical model to investigate customer loyalty on logistics service providers for sustainable business performance. Int. J. Bus. Perform. Supply Chain Model. 2015, 7, 212–232</a:t>
            </a:r>
            <a:r>
              <a:rPr lang="en-IN" sz="2000">
                <a:solidFill>
                  <a:srgbClr val="222222"/>
                </a:solidFill>
                <a:latin typeface="Times New Roman" panose="02020603050405020304" pitchFamily="18" charset="0"/>
                <a:ea typeface="Times New Roman" panose="02020603050405020304" pitchFamily="18" charset="0"/>
              </a:rPr>
              <a:t>. </a:t>
            </a:r>
            <a:endParaRPr lang="en-IN" sz="2000" dirty="0">
              <a:solidFill>
                <a:srgbClr val="222222"/>
              </a:solidFill>
              <a:latin typeface="Times New Roman" panose="02020603050405020304" pitchFamily="18" charset="0"/>
              <a:ea typeface="Times New Roman" panose="02020603050405020304" pitchFamily="18" charset="0"/>
            </a:endParaRPr>
          </a:p>
          <a:p>
            <a:pPr marL="0" indent="0">
              <a:buNone/>
            </a:pPr>
            <a:endParaRPr lang="en-GB"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93100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78132-963B-2190-16F5-8E943CBDE639}"/>
              </a:ext>
            </a:extLst>
          </p:cNvPr>
          <p:cNvSpPr>
            <a:spLocks noGrp="1"/>
          </p:cNvSpPr>
          <p:nvPr>
            <p:ph type="title"/>
          </p:nvPr>
        </p:nvSpPr>
        <p:spPr>
          <a:xfrm>
            <a:off x="3390470" y="1177357"/>
            <a:ext cx="6573201" cy="4503285"/>
          </a:xfrm>
        </p:spPr>
        <p:txBody>
          <a:bodyPr>
            <a:noAutofit/>
          </a:bodyPr>
          <a:lstStyle/>
          <a:p>
            <a:r>
              <a:rPr lang="en-IN" sz="9600" b="1">
                <a:latin typeface="Baguet Script" pitchFamily="2" charset="0"/>
              </a:rPr>
              <a:t>Thank you </a:t>
            </a:r>
            <a:endParaRPr lang="en-US" sz="9600" b="1">
              <a:latin typeface="Baguet Script" pitchFamily="2" charset="0"/>
            </a:endParaRPr>
          </a:p>
        </p:txBody>
      </p:sp>
    </p:spTree>
    <p:extLst>
      <p:ext uri="{BB962C8B-B14F-4D97-AF65-F5344CB8AC3E}">
        <p14:creationId xmlns:p14="http://schemas.microsoft.com/office/powerpoint/2010/main" val="31268612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25</Slides>
  <Notes>0</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  Analyzing E-Commerce Shipment Delivery and Customer Satisfaction</vt:lpstr>
      <vt:lpstr>Index:</vt:lpstr>
      <vt:lpstr>Abstract</vt:lpstr>
      <vt:lpstr>Introduction</vt:lpstr>
      <vt:lpstr>Motivation </vt:lpstr>
      <vt:lpstr> Problem Definition </vt:lpstr>
      <vt:lpstr>Literature Survey</vt:lpstr>
      <vt:lpstr>Research Gaps</vt:lpstr>
      <vt:lpstr>Proposed System</vt:lpstr>
      <vt:lpstr>Existing Methodology</vt:lpstr>
      <vt:lpstr>Drawbacks</vt:lpstr>
      <vt:lpstr>Proposed Methodology</vt:lpstr>
      <vt:lpstr>Software Details</vt:lpstr>
      <vt:lpstr>Detailed proposed methodology</vt:lpstr>
      <vt:lpstr>Sample code</vt:lpstr>
      <vt:lpstr>PowerPoint Presentation</vt:lpstr>
      <vt:lpstr>Packages used</vt:lpstr>
      <vt:lpstr>Result analysis </vt:lpstr>
      <vt:lpstr>PowerPoint Presentation</vt:lpstr>
      <vt:lpstr>Advantages &amp; applications</vt:lpstr>
      <vt:lpstr>Conclusion</vt:lpstr>
      <vt:lpstr>Future scope</vt:lpstr>
      <vt:lpstr>References</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Analyzing E-Commerce Shipment Delivery and Customer Satisfaction</dc:title>
  <dc:creator>Nizamuddin Mohammad</dc:creator>
  <cp:lastModifiedBy>ybunny26@gmail.com</cp:lastModifiedBy>
  <cp:revision>3</cp:revision>
  <dcterms:created xsi:type="dcterms:W3CDTF">2025-04-16T15:32:52Z</dcterms:created>
  <dcterms:modified xsi:type="dcterms:W3CDTF">2025-06-17T13:24:03Z</dcterms:modified>
</cp:coreProperties>
</file>